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75" r:id="rId7"/>
    <p:sldId id="274" r:id="rId8"/>
    <p:sldId id="261" r:id="rId9"/>
    <p:sldId id="283" r:id="rId10"/>
    <p:sldId id="281" r:id="rId11"/>
    <p:sldId id="264" r:id="rId12"/>
    <p:sldId id="263" r:id="rId13"/>
    <p:sldId id="265" r:id="rId14"/>
    <p:sldId id="266" r:id="rId15"/>
    <p:sldId id="267" r:id="rId16"/>
    <p:sldId id="268" r:id="rId17"/>
    <p:sldId id="277" r:id="rId18"/>
    <p:sldId id="276" r:id="rId19"/>
    <p:sldId id="278" r:id="rId20"/>
    <p:sldId id="279" r:id="rId21"/>
    <p:sldId id="280" r:id="rId22"/>
    <p:sldId id="273" r:id="rId23"/>
    <p:sldId id="271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Business buckets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7A398"/>
              </a:solidFill>
              <a:effectLst/>
            </c:spPr>
          </c:dPt>
          <c:dPt>
            <c:idx val="1"/>
            <c:bubble3D val="0"/>
            <c:spPr>
              <a:solidFill>
                <a:srgbClr val="E8604C"/>
              </a:solidFill>
              <a:effectLst/>
            </c:spPr>
          </c:dPt>
          <c:dPt>
            <c:idx val="2"/>
            <c:bubble3D val="0"/>
            <c:spPr>
              <a:solidFill>
                <a:srgbClr val="D9922E"/>
              </a:solidFill>
              <a:effectLst/>
            </c:spPr>
          </c:dPt>
          <c:dPt>
            <c:idx val="3"/>
            <c:bubble3D val="0"/>
            <c:spPr>
              <a:solidFill>
                <a:srgbClr val="5A4FCF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000" b="1" i="0" u="none" strike="noStrike" kern="1200" baseline="0">
                      <a:solidFill>
                        <a:srgbClr val="FFFFFF"/>
                      </a:solidFill>
                      <a:latin typeface="Calibri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000" b="1" i="0" u="none" strike="noStrike" kern="1200" baseline="0">
                      <a:solidFill>
                        <a:srgbClr val="FFFFFF"/>
                      </a:solidFill>
                      <a:latin typeface="Calibri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000" b="1" i="0" u="none" strike="noStrike" kern="1200" baseline="0">
                      <a:solidFill>
                        <a:srgbClr val="FFFFFF"/>
                      </a:solidFill>
                      <a:latin typeface="Calibri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000" b="1" i="0" u="none" strike="noStrike" kern="1200" baseline="0">
                      <a:solidFill>
                        <a:srgbClr val="FFFFFF"/>
                      </a:solidFill>
                      <a:latin typeface="Calibri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1" i="0" u="none" strike="noStrike" kern="1200" baseline="0">
                    <a:solidFill>
                      <a:srgbClr val="000000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Satisfaction</c:v>
                </c:pt>
                <c:pt idx="1">
                  <c:v>Frustration</c:v>
                </c:pt>
                <c:pt idx="2">
                  <c:v>Confusion</c:v>
                </c:pt>
                <c:pt idx="3">
                  <c:v>Concern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28</c:v>
                </c:pt>
                <c:pt idx="2">
                  <c:v>18</c:v>
                </c:pt>
                <c:pt idx="3">
                  <c:v>12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5b9b3c53-a2a6-4e15-835a-004f52f41bc4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Course: Applied Machine Learning for Text Analysis (24ALT3101). The one-line framing: this is a decision-support tool, not a black-box sentiment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example: the review flips at 'but'. Whole-review scoring cancels the two halves out; segment-level scoring keeps both. This example is illustrative, not a model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all six aloud. Group them: one and two are the model — a multi-label classifier that is then calibrated per label. Three, four and five are what makes the output usable — clause-level scoring, token-level explanation, business aggregation. Six is delivery. The value of this slide is the second line in each card: every objective has a check that closes it, so 'done' is not a matter of opinion.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 the survey as two halves. The first three rows are data and task: GoEmotions gives the corpus and the 28-label space, SemEval-2018 establishes multi-label emotion classification as a benchmark task, and CARER and DailyDialog supply auxiliary supervision at a coarser granularity. The last two rows are method: RoBERTa is the encoder, SHAP is the explanation technique. Then land the footer — every column has a 'leaves open' entry, and no single paper closes all of them at once. That combination is the gap, and it leads directly into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slide covering both the corpora and the differentiation. Read left to right on any row: what the dataset is, when it was published, where the paper lives, what it cannot do, and what our model does about that. The footer carries the model-level differences no corpus supplies at all — tuned thresholds, segment scoring, SHAP evidence and the four business buckets — and the metrics sit inside the published roberta-base band, so the gains come from calibration and system design rather than an inflated accuracy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gaps get a concrete design response. The fifth — Reddit training data versus product-review inference — is left open deliberately and recorded as a limitation.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down the right-hand column: label space, granularity, explainability, business framing, system scope. That is the innovation and the novelty claim in five lines. The two most likely to be questioned are per-label thresholds and contrastive segmentation, and both are deliberate design choices rather than defaults.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clearly that the doughnut and token strip are UI concepts, not measured results. The point is the presentation layer, not the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 rests on the fact that nothing here is speculative — every layer names a technology already defined in the architecture, with Docker Compose for local reproducibility.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Phases 1-2 are groundwork, 3-4 the model, 5-6 explainability and services, 7-8 the product surface and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these as acceptance criteria rather than aspirations — each one is checkable at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one review through the five stages, then point out that the three supporting services are what make the explanation and batch paths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four team members and their roll numbers, then move straight to the closing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one-sentence framing, then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hyperlink" Target="https://arxiv.org/abs/1705.07874" TargetMode="External"/><Relationship Id="rId5" Type="http://schemas.openxmlformats.org/officeDocument/2006/relationships/hyperlink" Target="https://arxiv.org/abs/1907.11692" TargetMode="External"/><Relationship Id="rId4" Type="http://schemas.openxmlformats.org/officeDocument/2006/relationships/hyperlink" Target="https://aclanthology.org/D18-1404/" TargetMode="External"/><Relationship Id="rId3" Type="http://schemas.openxmlformats.org/officeDocument/2006/relationships/hyperlink" Target="https://aclanthology.org/S18-1001/" TargetMode="External"/><Relationship Id="rId2" Type="http://schemas.openxmlformats.org/officeDocument/2006/relationships/hyperlink" Target="https://arxiv.org/abs/2005.00547" TargetMode="Externa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hyperlink" Target="https://huggingface.co/datasets/fancyzhx/amazon_polarity" TargetMode="External"/><Relationship Id="rId5" Type="http://schemas.openxmlformats.org/officeDocument/2006/relationships/hyperlink" Target="https://arxiv.org/abs/1710.03957" TargetMode="External"/><Relationship Id="rId4" Type="http://schemas.openxmlformats.org/officeDocument/2006/relationships/hyperlink" Target="https://aclanthology.org/S18-1001/" TargetMode="External"/><Relationship Id="rId3" Type="http://schemas.openxmlformats.org/officeDocument/2006/relationships/hyperlink" Target="https://aclanthology.org/D18-1404/" TargetMode="External"/><Relationship Id="rId2" Type="http://schemas.openxmlformats.org/officeDocument/2006/relationships/hyperlink" Target="https://arxiv.org/abs/2005.00547" TargetMode="Externa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3920" y="32385"/>
            <a:ext cx="2520315" cy="18751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196596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TEXT ANALYSIS  ·  24ALT3101</a:t>
            </a:r>
            <a:endParaRPr lang="en-US" sz="1150" b="1" kern="0" spc="2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66928" y="2637028"/>
            <a:ext cx="1024128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Transformer-Based</a:t>
            </a:r>
            <a:endParaRPr lang="en-US" sz="4000" dirty="0">
              <a:solidFill>
                <a:schemeClr val="tx1"/>
              </a:solidFill>
            </a:endParaRPr>
          </a:p>
          <a:p>
            <a:pPr marL="0" indent="0" algn="ctr">
              <a:lnSpc>
                <a:spcPct val="10600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Emotion-Aware Customer Feedback Analysis</a:t>
            </a:r>
            <a:endParaRPr lang="en-US" sz="4000" b="1" dirty="0">
              <a:solidFill>
                <a:schemeClr val="tx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734058" y="4846320"/>
            <a:ext cx="1797710" cy="402336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34058" y="4846320"/>
            <a:ext cx="179771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emotion labels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714648" y="4846320"/>
            <a:ext cx="2156155" cy="402336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5A4F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14648" y="4846320"/>
            <a:ext cx="2156155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Segment-aware scoring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53684" y="4846320"/>
            <a:ext cx="1797710" cy="402336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D992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684" y="4846320"/>
            <a:ext cx="179771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34274" y="4846320"/>
            <a:ext cx="1887322" cy="402336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34274" y="4846320"/>
            <a:ext cx="188732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business buckets</a:t>
            </a:r>
            <a:endParaRPr lang="en-US" sz="1150" dirty="0"/>
          </a:p>
        </p:txBody>
      </p:sp>
      <p:sp>
        <p:nvSpPr>
          <p:cNvPr id="20" name="Text Box 19"/>
          <p:cNvSpPr txBox="1"/>
          <p:nvPr/>
        </p:nvSpPr>
        <p:spPr>
          <a:xfrm>
            <a:off x="3582670" y="5814695"/>
            <a:ext cx="49149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latin typeface="Futura Medium" panose="020B0602020204020303" charset="0"/>
                <a:cs typeface="Futura Medium" panose="020B0602020204020303" charset="0"/>
              </a:rPr>
              <a:t>In the Guidance of </a:t>
            </a:r>
            <a:br>
              <a:rPr lang="en-US">
                <a:latin typeface="Futura Medium" panose="020B0602020204020303" charset="0"/>
                <a:cs typeface="Futura Medium" panose="020B0602020204020303" charset="0"/>
              </a:rPr>
            </a:br>
            <a:r>
              <a:rPr lang="en-US">
                <a:latin typeface="Futura Medium" panose="020B0602020204020303" charset="0"/>
                <a:cs typeface="Futura Medium" panose="020B0602020204020303" charset="0"/>
              </a:rPr>
              <a:t>Dr. KANTANGURI SWANTHANA</a:t>
            </a:r>
            <a:endParaRPr lang="en-US">
              <a:latin typeface="Futura Medium" panose="020B0602020204020303" charset="0"/>
              <a:cs typeface="Futura Medium" panose="020B0602020204020303" charset="0"/>
            </a:endParaRPr>
          </a:p>
        </p:txBody>
      </p:sp>
      <p:sp>
        <p:nvSpPr>
          <p:cNvPr id="21" name="Text 4"/>
          <p:cNvSpPr/>
          <p:nvPr/>
        </p:nvSpPr>
        <p:spPr>
          <a:xfrm>
            <a:off x="694055" y="2573655"/>
            <a:ext cx="7803515" cy="1686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endParaRPr lang="en-US" sz="4000" b="1" dirty="0">
              <a:solidFill>
                <a:schemeClr val="tx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Coarse labels hide what customers actually said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failure points in conventional sentiment analysis of customer feedback.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737360"/>
            <a:ext cx="5989320" cy="1005840"/>
          </a:xfrm>
          <a:prstGeom prst="roundRect">
            <a:avLst>
              <a:gd name="adj" fmla="val 818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6384" y="1956816"/>
            <a:ext cx="384048" cy="384048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" y="19568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98448" y="1956816"/>
            <a:ext cx="50383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labels aren't enough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86384" y="2432304"/>
            <a:ext cx="5550408" cy="91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negative / neutral never names the emotion behind the feedback.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2871216"/>
            <a:ext cx="5989320" cy="1005840"/>
          </a:xfrm>
          <a:prstGeom prst="roundRect">
            <a:avLst>
              <a:gd name="adj" fmla="val 818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86384" y="3090672"/>
            <a:ext cx="384048" cy="384048"/>
          </a:xfrm>
          <a:prstGeom prst="ellipse">
            <a:avLst/>
          </a:prstGeom>
          <a:solidFill>
            <a:srgbClr val="D9922E"/>
          </a:solidFill>
          <a:ln w="12700">
            <a:solidFill>
              <a:srgbClr val="D992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6384" y="30906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98448" y="3090672"/>
            <a:ext cx="50383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reviews get averaged away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86384" y="3566160"/>
            <a:ext cx="5550408" cy="91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review can praise and complain; a single whole-review score erases both.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6928" y="4005072"/>
            <a:ext cx="5989320" cy="1005840"/>
          </a:xfrm>
          <a:prstGeom prst="roundRect">
            <a:avLst>
              <a:gd name="adj" fmla="val 818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86384" y="4224528"/>
            <a:ext cx="384048" cy="384048"/>
          </a:xfrm>
          <a:prstGeom prst="ellipse">
            <a:avLst/>
          </a:prstGeom>
          <a:solidFill>
            <a:srgbClr val="5A4FCF"/>
          </a:solidFill>
          <a:ln w="12700">
            <a:solidFill>
              <a:srgbClr val="5A4FC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" y="42245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298448" y="4224528"/>
            <a:ext cx="50383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output isn't trusted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86384" y="4700016"/>
            <a:ext cx="5550408" cy="91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cannot see why a prediction was made, so they cannot rely on it.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66928" y="5138928"/>
            <a:ext cx="5989320" cy="1005840"/>
          </a:xfrm>
          <a:prstGeom prst="roundRect">
            <a:avLst>
              <a:gd name="adj" fmla="val 818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86384" y="5358384"/>
            <a:ext cx="384048" cy="384048"/>
          </a:xfrm>
          <a:prstGeom prst="ellipse">
            <a:avLst/>
          </a:prstGeom>
          <a:solidFill>
            <a:srgbClr val="3D3D8F"/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6384" y="53583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298448" y="5358384"/>
            <a:ext cx="50383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still isn't actionable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786384" y="5833872"/>
            <a:ext cx="5550408" cy="91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28 raw emotion labels need a business translation before anyone acts.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903720" y="1737360"/>
            <a:ext cx="4718304" cy="4370832"/>
          </a:xfrm>
          <a:prstGeom prst="roundRect">
            <a:avLst>
              <a:gd name="adj" fmla="val 1883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178040" y="1920240"/>
            <a:ext cx="416966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REVIEW, TWO EMOTIONS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178040" y="2249424"/>
            <a:ext cx="4169664" cy="914400"/>
          </a:xfrm>
          <a:prstGeom prst="roundRect">
            <a:avLst>
              <a:gd name="adj" fmla="val 8000"/>
            </a:avLst>
          </a:prstGeom>
          <a:solidFill>
            <a:srgbClr val="EAEA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24344" y="2322576"/>
            <a:ext cx="3877056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“Delivery was fast and the packaging was perfect, </a:t>
            </a:r>
            <a:r>
              <a:rPr lang="en-US" sz="1250" b="1" i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</a:t>
            </a:r>
            <a:r>
              <a:rPr lang="en-US" sz="1250" i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battery drains within two hours.”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7178040" y="3346704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1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178040" y="3566160"/>
            <a:ext cx="29809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admiration · gratitude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10140696" y="3364992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140696" y="3364992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178040" y="3877056"/>
            <a:ext cx="4169664" cy="146304"/>
          </a:xfrm>
          <a:prstGeom prst="roundRect">
            <a:avLst>
              <a:gd name="adj" fmla="val 50000"/>
            </a:avLst>
          </a:prstGeom>
          <a:solidFill>
            <a:srgbClr val="EAEA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178040" y="3877056"/>
            <a:ext cx="3419124" cy="146304"/>
          </a:xfrm>
          <a:prstGeom prst="roundRect">
            <a:avLst>
              <a:gd name="adj" fmla="val 50000"/>
            </a:avLst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178040" y="431596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2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7178040" y="4535424"/>
            <a:ext cx="29809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disappointment · annoyance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10140696" y="4334256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E86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140696" y="4334256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178040" y="4846320"/>
            <a:ext cx="4169664" cy="146304"/>
          </a:xfrm>
          <a:prstGeom prst="roundRect">
            <a:avLst>
              <a:gd name="adj" fmla="val 50000"/>
            </a:avLst>
          </a:prstGeom>
          <a:solidFill>
            <a:srgbClr val="EAEA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178040" y="4846320"/>
            <a:ext cx="3085551" cy="146304"/>
          </a:xfrm>
          <a:prstGeom prst="roundRect">
            <a:avLst>
              <a:gd name="adj" fmla="val 50000"/>
            </a:avLst>
          </a:prstGeom>
          <a:solidFill>
            <a:srgbClr val="E86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178040" y="5303520"/>
            <a:ext cx="4169664" cy="566928"/>
          </a:xfrm>
          <a:prstGeom prst="roundRect">
            <a:avLst>
              <a:gd name="adj" fmla="val 12903"/>
            </a:avLst>
          </a:prstGeom>
          <a:solidFill>
            <a:srgbClr val="FBEDEA"/>
          </a:solidFill>
          <a:ln w="9525">
            <a:solidFill>
              <a:srgbClr val="F3CEC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306056" y="5303520"/>
            <a:ext cx="3913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E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Whole-review score would read “neutral” — both signals lost.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7178040" y="5888736"/>
            <a:ext cx="416966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C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example.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build, and how we will know it is done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objectives, each with the check that closes it.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77393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6384" y="1993392"/>
            <a:ext cx="384048" cy="384048"/>
          </a:xfrm>
          <a:prstGeom prst="ellipse">
            <a:avLst/>
          </a:prstGeom>
          <a:solidFill>
            <a:srgbClr val="3D3D8F"/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" y="19933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98448" y="1993392"/>
            <a:ext cx="25694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multi-label classifier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86384" y="2453640"/>
            <a:ext cx="3081528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RoBERTa-base over 27 GoEmotions emotions plus neutral, with BCE loss so co-occurring emotions never compete.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88536" y="177393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07992" y="1993392"/>
            <a:ext cx="384048" cy="384048"/>
          </a:xfrm>
          <a:prstGeom prst="ellipse">
            <a:avLst/>
          </a:prstGeom>
          <a:solidFill>
            <a:srgbClr val="5A4FCF"/>
          </a:solidFill>
          <a:ln w="12700">
            <a:solidFill>
              <a:srgbClr val="5A4F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07992" y="19933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0056" y="1993392"/>
            <a:ext cx="25694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every label separately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507992" y="2453640"/>
            <a:ext cx="3081528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a decision threshold per emotion on validation data instead of applying one global 0.5 cutoff to all 28.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10144" y="177393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29600" y="1993392"/>
            <a:ext cx="384048" cy="384048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0" y="19933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741664" y="1993392"/>
            <a:ext cx="25694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reviews clause by clause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229600" y="2453640"/>
            <a:ext cx="3081528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sentence boundaries and contrastive connectives so praise and complaint in one review stay separate.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66928" y="387705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86384" y="4096512"/>
            <a:ext cx="384048" cy="384048"/>
          </a:xfrm>
          <a:prstGeom prst="ellipse">
            <a:avLst/>
          </a:prstGeom>
          <a:solidFill>
            <a:srgbClr val="D9922E"/>
          </a:solidFill>
          <a:ln w="12700">
            <a:solidFill>
              <a:srgbClr val="D9922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6384" y="40965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298448" y="4096512"/>
            <a:ext cx="25694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each prediction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786384" y="4556760"/>
            <a:ext cx="3081528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SHAP token attributions identifying which words pushed each emotion score up or down.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288536" y="387705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07992" y="4096512"/>
            <a:ext cx="384048" cy="384048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07992" y="40965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020056" y="4096512"/>
            <a:ext cx="25694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into business terms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4507992" y="4556760"/>
            <a:ext cx="3081528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the 28 labels into satisfaction, frustration, confusion and concern, with neutral reported separately.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010144" y="387705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29600" y="4096512"/>
            <a:ext cx="384048" cy="384048"/>
          </a:xfrm>
          <a:prstGeom prst="ellipse">
            <a:avLst/>
          </a:prstGeom>
          <a:solidFill>
            <a:srgbClr val="3D3D8F"/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0" y="40965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741664" y="4096512"/>
            <a:ext cx="25694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working system</a:t>
            </a:r>
            <a:endParaRPr lang="en-US" sz="1450" dirty="0"/>
          </a:p>
        </p:txBody>
      </p:sp>
      <p:sp>
        <p:nvSpPr>
          <p:cNvPr id="35" name="Text 32"/>
          <p:cNvSpPr/>
          <p:nvPr/>
        </p:nvSpPr>
        <p:spPr>
          <a:xfrm>
            <a:off x="8229600" y="4556760"/>
            <a:ext cx="3081528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APIs, a React dashboard, asynchronous batch CSV processing and explicitly documented limitations.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01" name="Text 7"/>
          <p:cNvSpPr/>
          <p:nvPr/>
        </p:nvSpPr>
        <p:spPr>
          <a:xfrm>
            <a:off x="786384" y="3153392"/>
            <a:ext cx="3081528" cy="460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when:  macro and micro F1 are reported on a held-out test split.</a:t>
            </a:r>
            <a:endParaRPr lang="en-US" sz="1200" dirty="0"/>
          </a:p>
        </p:txBody>
      </p:sp>
      <p:sp>
        <p:nvSpPr>
          <p:cNvPr id="802" name="Text 12"/>
          <p:cNvSpPr/>
          <p:nvPr/>
        </p:nvSpPr>
        <p:spPr>
          <a:xfrm>
            <a:off x="4507992" y="3153392"/>
            <a:ext cx="3081528" cy="460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when:  thresholds.json ships inside the model artifact.</a:t>
            </a:r>
            <a:endParaRPr lang="en-US" sz="1200" dirty="0"/>
          </a:p>
        </p:txBody>
      </p:sp>
      <p:sp>
        <p:nvSpPr>
          <p:cNvPr id="803" name="Text 17"/>
          <p:cNvSpPr/>
          <p:nvPr/>
        </p:nvSpPr>
        <p:spPr>
          <a:xfrm>
            <a:off x="8229600" y="3153392"/>
            <a:ext cx="3081528" cy="460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when:  a mixed review returns both verdicts and a mixed flag.</a:t>
            </a:r>
            <a:endParaRPr lang="en-US" sz="1200" dirty="0"/>
          </a:p>
        </p:txBody>
      </p:sp>
      <p:sp>
        <p:nvSpPr>
          <p:cNvPr id="804" name="Text 22"/>
          <p:cNvSpPr/>
          <p:nvPr/>
        </p:nvSpPr>
        <p:spPr>
          <a:xfrm>
            <a:off x="786384" y="5256512"/>
            <a:ext cx="3081528" cy="460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when:  /api/explain returns attributions for any review.</a:t>
            </a:r>
            <a:endParaRPr lang="en-US" sz="1200" dirty="0"/>
          </a:p>
        </p:txBody>
      </p:sp>
      <p:sp>
        <p:nvSpPr>
          <p:cNvPr id="805" name="Text 27"/>
          <p:cNvSpPr/>
          <p:nvPr/>
        </p:nvSpPr>
        <p:spPr>
          <a:xfrm>
            <a:off x="4507992" y="5256512"/>
            <a:ext cx="3081528" cy="460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when:  the dashboard reports four bucket percentages.</a:t>
            </a:r>
            <a:endParaRPr lang="en-US" sz="1200" dirty="0"/>
          </a:p>
        </p:txBody>
      </p:sp>
      <p:sp>
        <p:nvSpPr>
          <p:cNvPr id="806" name="Text 32"/>
          <p:cNvSpPr/>
          <p:nvPr/>
        </p:nvSpPr>
        <p:spPr>
          <a:xfrm>
            <a:off x="8229600" y="5256512"/>
            <a:ext cx="3081528" cy="460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when:  the full stack runs end to end under Docker Compose.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LITERATURE SURVEY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363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field established, and what it left open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papers in five rows — four supply data and task formulation, two supply method.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755648"/>
            <a:ext cx="190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074128" y="1755648"/>
            <a:ext cx="150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/ YEAR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24128" y="1755648"/>
            <a:ext cx="225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124128" y="1755648"/>
            <a:ext cx="225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WHAT IT LEAVES OPEN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" y="2066544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2267712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3D3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4128" y="2066544"/>
            <a:ext cx="19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GoEmotions — Demszky et al.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074128" y="2066544"/>
            <a:ext cx="15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ACL · 2020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24128" y="2066544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58k Reddit comments hand-annotated over 27 emotions plus neutral — the largest fine-grained emotion corpus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124128" y="2066544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domain; one global threshold; whole-comment scoring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6928" y="2761488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6384" y="2962656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24128" y="2761488"/>
            <a:ext cx="19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SemEval-2018 Task 1 — Mohammad et al.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074128" y="2761488"/>
            <a:ext cx="15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SemEval · 2018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724128" y="2761488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multi-label emotion classification as a shared benchmark with per-label evaluation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124128" y="2761488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Tweet-specific 11-label taxonomy; no explanation component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66928" y="3456432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6384" y="3657600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24128" y="3456432"/>
            <a:ext cx="19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CARER &amp; DailyDialog — Saravia; Li et al.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3074128" y="3456432"/>
            <a:ext cx="15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EMNLP 2018 · IJCNLP 2017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724128" y="3456432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emotion labelling on tweets and on multi-turn dialogue, over 6 and 7 classes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124128" y="3456432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single-label taxonomies that cannot express co-occurring emotions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66928" y="4151376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86384" y="4352544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24128" y="4151376"/>
            <a:ext cx="19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— Liu et al.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3074128" y="4151376"/>
            <a:ext cx="15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arXiv · 2019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724128" y="4151376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BERT was undertrained; a robust pretraining recipe giving stronger transfer at 125M parameters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124128" y="4151376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backbone — no emotion-specific modelling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566928" y="4846320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86384" y="5047488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3D3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24128" y="4846320"/>
            <a:ext cx="19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— Lundberg &amp; Lee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3074128" y="4846320"/>
            <a:ext cx="15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NeurIPS · 2017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724128" y="4846320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additive feature attribution built on Shapley values; model-agnostic explanations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124128" y="4846320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run offline over samples, not inside a serving path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566928" y="5614416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FDF6E9"/>
          </a:solidFill>
          <a:ln w="9525">
            <a:solidFill>
              <a:srgbClr val="F0DDB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04672" y="5614416"/>
            <a:ext cx="67665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this project fills:  </a:t>
            </a:r>
            <a:r>
              <a:rPr lang="en-US" sz="1150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work combines fine-grained emotion labels, per-label calibration, segment-level scoring and explanation inside the serving loop.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7973568" y="5614416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174736" y="5614416"/>
            <a:ext cx="32918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open access — ACL Anthology, SemEval, NeurIPS and arXiv. Click a venue to open the paper.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51" name="Text 6"/>
          <p:cNvSpPr/>
          <p:nvPr/>
        </p:nvSpPr>
        <p:spPr>
          <a:xfrm>
            <a:off x="9524128" y="1755648"/>
            <a:ext cx="210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WHERE IT ENTERS OUR SYSTEM</a:t>
            </a:r>
            <a:endParaRPr lang="en-US" sz="1000" dirty="0"/>
          </a:p>
        </p:txBody>
      </p:sp>
      <p:sp>
        <p:nvSpPr>
          <p:cNvPr id="952" name="Text 12"/>
          <p:cNvSpPr/>
          <p:nvPr/>
        </p:nvSpPr>
        <p:spPr>
          <a:xfrm>
            <a:off x="9524128" y="2066544"/>
            <a:ext cx="21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corpus and our 28-label space</a:t>
            </a:r>
            <a:endParaRPr lang="en-US" sz="1150" dirty="0"/>
          </a:p>
        </p:txBody>
      </p:sp>
      <p:sp>
        <p:nvSpPr>
          <p:cNvPr id="953" name="Text 18"/>
          <p:cNvSpPr/>
          <p:nvPr/>
        </p:nvSpPr>
        <p:spPr>
          <a:xfrm>
            <a:off x="9524128" y="2761488"/>
            <a:ext cx="21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Justifies our multi-label BCE setup; its corpus was tested and rejected</a:t>
            </a:r>
            <a:endParaRPr lang="en-US" sz="1150" dirty="0"/>
          </a:p>
        </p:txBody>
      </p:sp>
      <p:sp>
        <p:nvSpPr>
          <p:cNvPr id="954" name="Text 24"/>
          <p:cNvSpPr/>
          <p:nvPr/>
        </p:nvSpPr>
        <p:spPr>
          <a:xfrm>
            <a:off x="9524128" y="3456432"/>
            <a:ext cx="21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Coverage-masked auxiliary corpora, off by default</a:t>
            </a:r>
            <a:endParaRPr lang="en-US" sz="1150" dirty="0"/>
          </a:p>
        </p:txBody>
      </p:sp>
      <p:sp>
        <p:nvSpPr>
          <p:cNvPr id="955" name="Text 30"/>
          <p:cNvSpPr/>
          <p:nvPr/>
        </p:nvSpPr>
        <p:spPr>
          <a:xfrm>
            <a:off x="9524128" y="4151376"/>
            <a:ext cx="21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encoder we fine-tune with a multi-label head</a:t>
            </a:r>
            <a:endParaRPr lang="en-US" sz="1150" dirty="0"/>
          </a:p>
        </p:txBody>
      </p:sp>
      <p:sp>
        <p:nvSpPr>
          <p:cNvPr id="956" name="Text 36"/>
          <p:cNvSpPr/>
          <p:nvPr/>
        </p:nvSpPr>
        <p:spPr>
          <a:xfrm>
            <a:off x="9524128" y="4846320"/>
            <a:ext cx="21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attributions on every prediction, cached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DATASETS &amp; DIFFERENTIATOR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363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corpus, its limits, and what we changed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corpora considered — one trained on, two held in reserve, one rejected, one never trained on.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755648"/>
            <a:ext cx="195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124128" y="1755648"/>
            <a:ext cx="52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794128" y="1755648"/>
            <a:ext cx="170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/ SOURCE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44128" y="1755648"/>
            <a:ext cx="280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KEY LIMITATION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" y="2066544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2267712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3D3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4128" y="2066544"/>
            <a:ext cx="19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GoEmotions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124128" y="2066544"/>
            <a:ext cx="52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794128" y="2066544"/>
            <a:ext cx="17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arxiv.org/abs/2005.00547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44128" y="2066544"/>
            <a:ext cx="28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comments, not product reviews; grief, pride and relief have under 20 test examples each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6928" y="2761488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6384" y="2962656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24128" y="2761488"/>
            <a:ext cx="19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dair-ai/emotion (CARER)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124128" y="2761488"/>
            <a:ext cx="52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794128" y="2761488"/>
            <a:ext cx="17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aclanthology.org/D18-1404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644128" y="2761488"/>
            <a:ext cx="28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 coarse labels, single-label, drawn from Twitter; no grief, pride or relief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66928" y="3456432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6384" y="3657600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24128" y="3456432"/>
            <a:ext cx="19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SemEval-2018 Task 1 (E-c)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3124128" y="3456432"/>
            <a:ext cx="52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794128" y="3456432"/>
            <a:ext cx="17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aclanthology.org/S18-1001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644128" y="3456432"/>
            <a:ext cx="28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only Parquet mirror ships stopword-stripped, case-folded text — an unnatural register for RoBERTa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66928" y="4151376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86384" y="4352544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24128" y="4151376"/>
            <a:ext cx="19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DailyDialog (roskoN mirror)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3124128" y="4151376"/>
            <a:ext cx="52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794128" y="4151376"/>
            <a:ext cx="17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arxiv.org/abs/1710.03957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644128" y="4151376"/>
            <a:ext cx="28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turns rather than reviews; single-label and heavily neutral-skewed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566928" y="4846320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86384" y="5047488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3D3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24128" y="4846320"/>
            <a:ext cx="19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Reviews (amazon_polarity)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3124128" y="4846320"/>
            <a:ext cx="52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3794128" y="4846320"/>
            <a:ext cx="17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huggingface.co/datasets/fancyzhx/amazon_polarity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5644128" y="4846320"/>
            <a:ext cx="28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polarity only — carries no emotion annotation at all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566928" y="5614416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FDF6E9"/>
          </a:solidFill>
          <a:ln w="9525">
            <a:solidFill>
              <a:srgbClr val="F0DDB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04672" y="5614416"/>
            <a:ext cx="67665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corpora:  </a:t>
            </a:r>
            <a:r>
              <a:rPr lang="en-US" sz="1150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per-label tuned thresholds, contrastive segment scoring, SHAP token evidence on every prediction and a four-bucket business roll-up — none of which any source corpus supplies.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7973568" y="5614416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174736" y="5614416"/>
            <a:ext cx="32918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model-v1 trains on GoEmotions alone, so the reported metrics stay reproducible from the committed config.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51" name="Text 6"/>
          <p:cNvSpPr/>
          <p:nvPr/>
        </p:nvSpPr>
        <p:spPr>
          <a:xfrm>
            <a:off x="8594128" y="1755648"/>
            <a:ext cx="301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HOW OUR MODEL RESPONDS</a:t>
            </a:r>
            <a:endParaRPr lang="en-US" sz="1000" dirty="0"/>
          </a:p>
        </p:txBody>
      </p:sp>
      <p:sp>
        <p:nvSpPr>
          <p:cNvPr id="952" name="Text 12"/>
          <p:cNvSpPr/>
          <p:nvPr/>
        </p:nvSpPr>
        <p:spPr>
          <a:xfrm>
            <a:off x="8594128" y="2066544"/>
            <a:ext cx="301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it, then recalibrated — per-label thresholds (0.05–0.95) replace the global 0.5 cutoff</a:t>
            </a:r>
            <a:endParaRPr lang="en-US" sz="1150" dirty="0"/>
          </a:p>
        </p:txBody>
      </p:sp>
      <p:sp>
        <p:nvSpPr>
          <p:cNvPr id="953" name="Text 18"/>
          <p:cNvSpPr/>
          <p:nvPr/>
        </p:nvSpPr>
        <p:spPr>
          <a:xfrm>
            <a:off x="8594128" y="2761488"/>
            <a:ext cx="301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Coverage-masked auxiliary corpus, off by default</a:t>
            </a:r>
            <a:endParaRPr lang="en-US" sz="1150" dirty="0"/>
          </a:p>
        </p:txBody>
      </p:sp>
      <p:sp>
        <p:nvSpPr>
          <p:cNvPr id="954" name="Text 24"/>
          <p:cNvSpPr/>
          <p:nvPr/>
        </p:nvSpPr>
        <p:spPr>
          <a:xfrm>
            <a:off x="8594128" y="3456432"/>
            <a:ext cx="301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as a third auxiliary corpus and deliberately rejected</a:t>
            </a:r>
            <a:endParaRPr lang="en-US" sz="1150" dirty="0"/>
          </a:p>
        </p:txBody>
      </p:sp>
      <p:sp>
        <p:nvSpPr>
          <p:cNvPr id="955" name="Text 30"/>
          <p:cNvSpPr/>
          <p:nvPr/>
        </p:nvSpPr>
        <p:spPr>
          <a:xfrm>
            <a:off x="8594128" y="4151376"/>
            <a:ext cx="301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Coverage-masked and available, but off by default</a:t>
            </a:r>
            <a:endParaRPr lang="en-US" sz="1150" dirty="0"/>
          </a:p>
        </p:txBody>
      </p:sp>
      <p:sp>
        <p:nvSpPr>
          <p:cNvPr id="956" name="Text 36"/>
          <p:cNvSpPr/>
          <p:nvPr/>
        </p:nvSpPr>
        <p:spPr>
          <a:xfrm>
            <a:off x="8594128" y="4846320"/>
            <a:ext cx="301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and demo only; the domain gap is reported, never trained away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RESEARCH GAP IDENTIFICATION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gaps closed, one left open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gap on the left, the design response on the right.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1719072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GAP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583680" y="171907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PROJECT RESPONDS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66928" y="2029968"/>
            <a:ext cx="5742432" cy="713232"/>
          </a:xfrm>
          <a:prstGeom prst="roundRect">
            <a:avLst>
              <a:gd name="adj" fmla="val 11538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2029968"/>
            <a:ext cx="52303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sentiment labels are insufficient for business interpretation.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45936" y="2029968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803136" y="2029968"/>
            <a:ext cx="4828032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059168" y="2029968"/>
            <a:ext cx="43159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RoBERTa across 28 emotion labels.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2871216"/>
            <a:ext cx="5742432" cy="713232"/>
          </a:xfrm>
          <a:prstGeom prst="roundRect">
            <a:avLst>
              <a:gd name="adj" fmla="val 11538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2960" y="2871216"/>
            <a:ext cx="52303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Whole-review classification averages away contrasting emotions.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45936" y="2871216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A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803136" y="2871216"/>
            <a:ext cx="4828032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059168" y="2871216"/>
            <a:ext cx="43159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5A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Segment-level scoring around sentence boundaries and connectives.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66928" y="3712464"/>
            <a:ext cx="5742432" cy="713232"/>
          </a:xfrm>
          <a:prstGeom prst="roundRect">
            <a:avLst>
              <a:gd name="adj" fmla="val 11538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22960" y="3712464"/>
            <a:ext cx="52303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without explanation hides what caused the decision.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45936" y="3712464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803136" y="3712464"/>
            <a:ext cx="4828032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059168" y="3712464"/>
            <a:ext cx="43159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token attributions returned with every prediction.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6928" y="4553712"/>
            <a:ext cx="5742432" cy="713232"/>
          </a:xfrm>
          <a:prstGeom prst="roundRect">
            <a:avLst>
              <a:gd name="adj" fmla="val 11538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22960" y="4553712"/>
            <a:ext cx="52303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emotions are hard for stakeholders to interpret.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345936" y="4553712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803136" y="4553712"/>
            <a:ext cx="4828032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059168" y="4553712"/>
            <a:ext cx="43159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business buckets layered over the raw label space.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66928" y="5394960"/>
            <a:ext cx="5742432" cy="713232"/>
          </a:xfrm>
          <a:prstGeom prst="roundRect">
            <a:avLst>
              <a:gd name="adj" fmla="val 11538"/>
            </a:avLst>
          </a:prstGeom>
          <a:solidFill>
            <a:srgbClr val="FDF6E9"/>
          </a:solidFill>
          <a:ln w="9525">
            <a:solidFill>
              <a:srgbClr val="F0DDB8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822960" y="5394960"/>
            <a:ext cx="52303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uses Reddit comments; inference targets product reviews.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345936" y="5394960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803136" y="5394960"/>
            <a:ext cx="4828032" cy="713232"/>
          </a:xfrm>
          <a:prstGeom prst="roundRect">
            <a:avLst>
              <a:gd name="adj" fmla="val 11538"/>
            </a:avLst>
          </a:prstGeom>
          <a:solidFill>
            <a:srgbClr val="FDF6E9"/>
          </a:solidFill>
          <a:ln w="9525">
            <a:solidFill>
              <a:srgbClr val="F0DDB8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7059168" y="5394960"/>
            <a:ext cx="43159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as an open domain gap — acknowledged, not claimed solved.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55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Label"/>
          <p:cNvSpPr>
            <a:spLocks noGrp="1"/>
          </p:cNvSpPr>
          <p:nvPr/>
        </p:nvSpPr>
        <p:spPr>
          <a:xfrm>
            <a:off x="566928" y="301752"/>
            <a:ext cx="100576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00" b="1" dirty="0">
                <a:solidFill>
                  <a:srgbClr val="AAADD4"/>
                </a:solidFill>
                <a:latin typeface="Calibri"/>
              </a:rPr>
              <a:t>05 · MODEL LANDSCAPE — PRIOR WORK vs. THIS PROJECT</a:t>
            </a:r>
            <a:endParaRPr lang="en-US" sz="1200" b="1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4" name="MainTitle"/>
          <p:cNvSpPr>
            <a:spLocks noGrp="1"/>
          </p:cNvSpPr>
          <p:nvPr/>
        </p:nvSpPr>
        <p:spPr>
          <a:xfrm>
            <a:off x="566928" y="658368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Models Leveraged: Prior Literature vs. Our Framework</a:t>
            </a:r>
            <a:endParaRPr lang="en-US"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LeftCard"/>
          <p:cNvSpPr/>
          <p:nvPr/>
        </p:nvSpPr>
        <p:spPr>
          <a:xfrm>
            <a:off x="457200" y="1345080"/>
            <a:ext cx="5600000" cy="5100000"/>
          </a:xfrm>
          <a:prstGeom prst="roundRect">
            <a:avLst>
              <a:gd name="adj" fmla="val 20000"/>
            </a:avLst>
          </a:prstGeom>
          <a:solidFill>
            <a:srgbClr val="2D3270"/>
          </a:solidFill>
          <a:ln w="18000">
            <a:solidFill>
              <a:srgbClr val="5C6BC0"/>
            </a:solidFill>
          </a:ln>
        </p:spPr>
        <p:txBody>
          <a:bodyPr/>
          <a:lstStyle/>
          <a:p/>
        </p:txBody>
      </p:sp>
      <p:sp>
        <p:nvSpPr>
          <p:cNvPr id="7" name="LeftHdr"/>
          <p:cNvSpPr/>
          <p:nvPr/>
        </p:nvSpPr>
        <p:spPr>
          <a:xfrm>
            <a:off x="1742035" y="1392065"/>
            <a:ext cx="5100000" cy="34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600" b="1" dirty="0">
                <a:solidFill>
                  <a:srgbClr val="9FA8DA"/>
                </a:solidFill>
                <a:latin typeface="Calibri"/>
              </a:rPr>
              <a:t>PRIOR WORK MODELS</a:t>
            </a:r>
            <a:endParaRPr lang="en-US" sz="1600" b="1" dirty="0">
              <a:solidFill>
                <a:srgbClr val="9FA8DA"/>
              </a:solidFill>
              <a:latin typeface="Calibri"/>
            </a:endParaRPr>
          </a:p>
        </p:txBody>
      </p:sp>
      <p:sp>
        <p:nvSpPr>
          <p:cNvPr id="8" name="LHdrLine"/>
          <p:cNvSpPr/>
          <p:nvPr/>
        </p:nvSpPr>
        <p:spPr>
          <a:xfrm>
            <a:off x="700000" y="1740000"/>
            <a:ext cx="5100000" cy="280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LeftContent"/>
          <p:cNvSpPr/>
          <p:nvPr/>
        </p:nvSpPr>
        <p:spPr>
          <a:xfrm>
            <a:off x="566420" y="1841500"/>
            <a:ext cx="5394325" cy="446087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ctr">
              <a:lnSpc>
                <a:spcPct val="170000"/>
              </a:lnSpc>
            </a:pPr>
            <a:r>
              <a:rPr lang="en-US" sz="1600" b="1" dirty="0">
                <a:solidFill>
                  <a:srgbClr val="C5CAE9"/>
                </a:solidFill>
                <a:latin typeface="Calibri"/>
              </a:rPr>
              <a:t>BERT-base</a:t>
            </a:r>
            <a:r>
              <a:rPr lang="en-US" sz="1400" b="0" dirty="0">
                <a:solidFill>
                  <a:srgbClr val="7986CB"/>
                </a:solidFill>
                <a:latin typeface="Calibri"/>
              </a:rPr>
              <a:t>  (Devlin et al., 2019)</a:t>
            </a:r>
            <a:endParaRPr lang="en-US" sz="1400" b="0" dirty="0">
              <a:solidFill>
                <a:srgbClr val="7986CB"/>
              </a:solidFill>
              <a:latin typeface="Calibri"/>
            </a:endParaRPr>
          </a:p>
          <a:p>
            <a:pPr marL="179705" algn="ctr">
              <a:lnSpc>
                <a:spcPct val="170000"/>
              </a:lnSpc>
            </a:pPr>
            <a:r>
              <a:rPr lang="en-US" sz="1400" b="0" dirty="0">
                <a:solidFill>
                  <a:srgbClr val="9FA8DA"/>
                </a:solidFill>
                <a:latin typeface="Calibri"/>
              </a:rPr>
              <a:t>Bidirectional transformer; GoEmotions baseline backbone</a:t>
            </a:r>
            <a:endParaRPr lang="en-US" sz="1400" b="0" dirty="0">
              <a:solidFill>
                <a:srgbClr val="9FA8DA"/>
              </a:solidFill>
              <a:latin typeface="Calibri"/>
            </a:endParaRPr>
          </a:p>
          <a:p>
            <a:pPr marL="0" indent="0" algn="ctr">
              <a:lnSpc>
                <a:spcPct val="170000"/>
              </a:lnSpc>
            </a:pPr>
            <a:r>
              <a:rPr lang="en-US" sz="1600" b="1" dirty="0">
                <a:solidFill>
                  <a:srgbClr val="C5CAE9"/>
                </a:solidFill>
                <a:latin typeface="Calibri"/>
              </a:rPr>
              <a:t>RoBERTa</a:t>
            </a:r>
            <a:r>
              <a:rPr lang="en-US" sz="1400" b="0" dirty="0">
                <a:solidFill>
                  <a:srgbClr val="7986CB"/>
                </a:solidFill>
                <a:latin typeface="Calibri"/>
              </a:rPr>
              <a:t>  (Liu et al., 2019)</a:t>
            </a:r>
            <a:endParaRPr lang="en-US" sz="1400" b="0" dirty="0">
              <a:solidFill>
                <a:srgbClr val="7986CB"/>
              </a:solidFill>
              <a:latin typeface="Calibri"/>
            </a:endParaRPr>
          </a:p>
          <a:p>
            <a:pPr marL="179705" algn="ctr">
              <a:lnSpc>
                <a:spcPct val="170000"/>
              </a:lnSpc>
            </a:pPr>
            <a:r>
              <a:rPr lang="en-US" sz="1400" b="0" dirty="0">
                <a:solidFill>
                  <a:srgbClr val="9FA8DA"/>
                </a:solidFill>
                <a:latin typeface="Calibri"/>
              </a:rPr>
              <a:t>Robustly optimized BERT; improved pre-training on 160GB corpus</a:t>
            </a:r>
            <a:endParaRPr lang="en-US" sz="1400" b="0" dirty="0">
              <a:solidFill>
                <a:srgbClr val="9FA8DA"/>
              </a:solidFill>
              <a:latin typeface="Calibri"/>
            </a:endParaRPr>
          </a:p>
          <a:p>
            <a:pPr marL="0" indent="0" algn="ctr">
              <a:lnSpc>
                <a:spcPct val="170000"/>
              </a:lnSpc>
            </a:pPr>
            <a:r>
              <a:rPr lang="en-US" sz="1600" b="1" dirty="0">
                <a:solidFill>
                  <a:srgbClr val="C5CAE9"/>
                </a:solidFill>
                <a:latin typeface="Calibri"/>
              </a:rPr>
              <a:t>SHAP / LIME</a:t>
            </a:r>
            <a:r>
              <a:rPr lang="en-US" sz="1400" b="0" dirty="0">
                <a:solidFill>
                  <a:srgbClr val="7986CB"/>
                </a:solidFill>
                <a:latin typeface="Calibri"/>
              </a:rPr>
              <a:t>  (Lundberg 2017 / Ribeiro 2016)</a:t>
            </a:r>
            <a:endParaRPr lang="en-US" sz="1400" b="0" dirty="0">
              <a:solidFill>
                <a:srgbClr val="7986CB"/>
              </a:solidFill>
              <a:latin typeface="Calibri"/>
            </a:endParaRPr>
          </a:p>
          <a:p>
            <a:pPr marL="179705" algn="ctr">
              <a:lnSpc>
                <a:spcPct val="170000"/>
              </a:lnSpc>
            </a:pPr>
            <a:r>
              <a:rPr lang="en-US" sz="1400" b="0" dirty="0">
                <a:solidFill>
                  <a:srgbClr val="9FA8DA"/>
                </a:solidFill>
                <a:latin typeface="Calibri"/>
              </a:rPr>
              <a:t>Model-agnostic XAI add-ons; used standalone, not integrated</a:t>
            </a:r>
            <a:endParaRPr lang="en-US" sz="1400" b="0" dirty="0">
              <a:solidFill>
                <a:srgbClr val="9FA8DA"/>
              </a:solidFill>
              <a:latin typeface="Calibri"/>
            </a:endParaRPr>
          </a:p>
          <a:p>
            <a:pPr marL="0" indent="0" algn="ctr">
              <a:lnSpc>
                <a:spcPct val="170000"/>
              </a:lnSpc>
            </a:pPr>
            <a:r>
              <a:rPr lang="en-US" sz="1600" b="1" dirty="0">
                <a:solidFill>
                  <a:srgbClr val="C5CAE9"/>
                </a:solidFill>
                <a:latin typeface="Calibri"/>
              </a:rPr>
              <a:t>ABSA Models</a:t>
            </a:r>
            <a:r>
              <a:rPr lang="en-US" sz="1400" b="0" dirty="0">
                <a:solidFill>
                  <a:srgbClr val="7986CB"/>
                </a:solidFill>
                <a:latin typeface="Calibri"/>
              </a:rPr>
              <a:t>  (aspect-based sentiment)</a:t>
            </a:r>
            <a:endParaRPr lang="en-US" sz="1400" b="0" dirty="0">
              <a:solidFill>
                <a:srgbClr val="7986CB"/>
              </a:solidFill>
              <a:latin typeface="Calibri"/>
            </a:endParaRPr>
          </a:p>
          <a:p>
            <a:pPr marL="179705" algn="ctr">
              <a:lnSpc>
                <a:spcPct val="170000"/>
              </a:lnSpc>
            </a:pPr>
            <a:r>
              <a:rPr lang="en-US" sz="1400" b="0" dirty="0">
                <a:solidFill>
                  <a:srgbClr val="9FA8DA"/>
                </a:solidFill>
                <a:latin typeface="Calibri"/>
              </a:rPr>
              <a:t>Requires predefined aspect categories; no open-label support</a:t>
            </a:r>
            <a:endParaRPr lang="en-US" sz="1400" b="0" dirty="0">
              <a:solidFill>
                <a:srgbClr val="9FA8DA"/>
              </a:solidFill>
              <a:latin typeface="Calibri"/>
            </a:endParaRPr>
          </a:p>
          <a:p>
            <a:pPr marL="0" indent="0" algn="ctr">
              <a:lnSpc>
                <a:spcPct val="170000"/>
              </a:lnSpc>
            </a:pPr>
            <a:r>
              <a:rPr lang="en-US" sz="1600" b="1" dirty="0">
                <a:solidFill>
                  <a:srgbClr val="C5CAE9"/>
                </a:solidFill>
                <a:latin typeface="Calibri"/>
              </a:rPr>
              <a:t>GoEmotions Classifier</a:t>
            </a:r>
            <a:r>
              <a:rPr lang="en-US" sz="1400" b="0" dirty="0">
                <a:solidFill>
                  <a:srgbClr val="7986CB"/>
                </a:solidFill>
                <a:latin typeface="Calibri"/>
              </a:rPr>
              <a:t>  (Demszky et al., 2020)</a:t>
            </a:r>
            <a:endParaRPr lang="en-US" sz="1400" b="0" dirty="0">
              <a:solidFill>
                <a:srgbClr val="7986CB"/>
              </a:solidFill>
              <a:latin typeface="Calibri"/>
            </a:endParaRPr>
          </a:p>
          <a:p>
            <a:pPr marL="179705" algn="ctr">
              <a:lnSpc>
                <a:spcPct val="170000"/>
              </a:lnSpc>
            </a:pPr>
            <a:r>
              <a:rPr lang="en-US" sz="1400" b="0" dirty="0">
                <a:solidFill>
                  <a:srgbClr val="9FA8DA"/>
                </a:solidFill>
                <a:latin typeface="Calibri"/>
              </a:rPr>
              <a:t>27-label taxonomy; single-corpus, no XAI, no deployment</a:t>
            </a:r>
            <a:endParaRPr lang="en-US" sz="1400" b="0" dirty="0">
              <a:solidFill>
                <a:srgbClr val="9FA8DA"/>
              </a:solidFill>
              <a:latin typeface="Calibri"/>
            </a:endParaRPr>
          </a:p>
        </p:txBody>
      </p:sp>
      <p:sp>
        <p:nvSpPr>
          <p:cNvPr id="10" name="RightCard"/>
          <p:cNvSpPr/>
          <p:nvPr/>
        </p:nvSpPr>
        <p:spPr>
          <a:xfrm>
            <a:off x="6200000" y="1340000"/>
            <a:ext cx="5534695" cy="5100000"/>
          </a:xfrm>
          <a:prstGeom prst="roundRect">
            <a:avLst>
              <a:gd name="adj" fmla="val 20000"/>
            </a:avLst>
          </a:prstGeom>
          <a:solidFill>
            <a:srgbClr val="0D3330"/>
          </a:solidFill>
          <a:ln w="18000">
            <a:solidFill>
              <a:srgbClr val="00796B"/>
            </a:solidFill>
          </a:ln>
        </p:spPr>
        <p:txBody>
          <a:bodyPr/>
          <a:lstStyle/>
          <a:p/>
        </p:txBody>
      </p:sp>
      <p:sp>
        <p:nvSpPr>
          <p:cNvPr id="11" name="RightHdr"/>
          <p:cNvSpPr/>
          <p:nvPr/>
        </p:nvSpPr>
        <p:spPr>
          <a:xfrm>
            <a:off x="7264550" y="1380000"/>
            <a:ext cx="5100000" cy="34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600" b="1" dirty="0">
                <a:solidFill>
                  <a:srgbClr val="80CBC4"/>
                </a:solidFill>
                <a:latin typeface="Calibri"/>
              </a:rPr>
              <a:t>THIS PROJECT — OUR MODELS</a:t>
            </a:r>
            <a:endParaRPr lang="en-US" sz="1600" b="1" dirty="0">
              <a:solidFill>
                <a:srgbClr val="80CBC4"/>
              </a:solidFill>
              <a:latin typeface="Calibri"/>
            </a:endParaRPr>
          </a:p>
        </p:txBody>
      </p:sp>
      <p:sp>
        <p:nvSpPr>
          <p:cNvPr id="12" name="RHdrLine"/>
          <p:cNvSpPr/>
          <p:nvPr/>
        </p:nvSpPr>
        <p:spPr>
          <a:xfrm>
            <a:off x="6420000" y="1740000"/>
            <a:ext cx="5150000" cy="280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ghtContent"/>
          <p:cNvSpPr/>
          <p:nvPr/>
        </p:nvSpPr>
        <p:spPr>
          <a:xfrm>
            <a:off x="6419850" y="1790065"/>
            <a:ext cx="5149850" cy="446087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ctr">
              <a:lnSpc>
                <a:spcPct val="160000"/>
              </a:lnSpc>
            </a:pPr>
            <a:r>
              <a:rPr lang="en-US" sz="1600" b="1" dirty="0">
                <a:solidFill>
                  <a:srgbClr val="B2DFDB"/>
                </a:solidFill>
                <a:latin typeface="Calibri"/>
              </a:rPr>
              <a:t>RoBERTa-base</a:t>
            </a:r>
            <a:r>
              <a:rPr lang="en-US" sz="1400" b="0" dirty="0">
                <a:solidFill>
                  <a:srgbClr val="4DB6AC"/>
                </a:solidFill>
                <a:latin typeface="Calibri"/>
              </a:rPr>
              <a:t>  (fine-tuned backbone)</a:t>
            </a:r>
            <a:endParaRPr lang="en-US" sz="1400" b="0" dirty="0">
              <a:solidFill>
                <a:srgbClr val="4DB6AC"/>
              </a:solidFill>
              <a:latin typeface="Calibri"/>
            </a:endParaRPr>
          </a:p>
          <a:p>
            <a:pPr marL="179705" algn="ctr">
              <a:lnSpc>
                <a:spcPct val="160000"/>
              </a:lnSpc>
            </a:pPr>
            <a:r>
              <a:rPr lang="en-US" sz="1400" b="0" dirty="0">
                <a:solidFill>
                  <a:srgbClr val="80CBC4"/>
                </a:solidFill>
                <a:latin typeface="Calibri"/>
              </a:rPr>
              <a:t>27-label multi-label classifier; sigmoid head, not softmax</a:t>
            </a:r>
            <a:endParaRPr lang="en-US" sz="1400" b="0" dirty="0">
              <a:solidFill>
                <a:srgbClr val="80CBC4"/>
              </a:solidFill>
              <a:latin typeface="Calibri"/>
            </a:endParaRPr>
          </a:p>
          <a:p>
            <a:pPr marL="0" indent="0" algn="ctr">
              <a:lnSpc>
                <a:spcPct val="160000"/>
              </a:lnSpc>
            </a:pPr>
            <a:r>
              <a:rPr lang="en-US" sz="1600" b="1" dirty="0">
                <a:solidFill>
                  <a:srgbClr val="B2DFDB"/>
                </a:solidFill>
                <a:latin typeface="Calibri"/>
              </a:rPr>
              <a:t>Masked Binary Cross-Entropy</a:t>
            </a:r>
            <a:r>
              <a:rPr lang="en-US" sz="1400" b="0" dirty="0">
                <a:solidFill>
                  <a:srgbClr val="4DB6AC"/>
                </a:solidFill>
                <a:latin typeface="Calibri"/>
              </a:rPr>
              <a:t>  (custom loss)</a:t>
            </a:r>
            <a:endParaRPr lang="en-US" sz="1400" b="0" dirty="0">
              <a:solidFill>
                <a:srgbClr val="4DB6AC"/>
              </a:solidFill>
              <a:latin typeface="Calibri"/>
            </a:endParaRPr>
          </a:p>
          <a:p>
            <a:pPr marL="179705" algn="ctr">
              <a:lnSpc>
                <a:spcPct val="160000"/>
              </a:lnSpc>
            </a:pPr>
            <a:r>
              <a:rPr lang="en-US" sz="1400" b="0" dirty="0">
                <a:solidFill>
                  <a:srgbClr val="80CBC4"/>
                </a:solidFill>
                <a:latin typeface="Calibri"/>
              </a:rPr>
              <a:t>Handles partial label coverage across heterogeneous corpora</a:t>
            </a:r>
            <a:endParaRPr lang="en-US" sz="1400" b="0" dirty="0">
              <a:solidFill>
                <a:srgbClr val="80CBC4"/>
              </a:solidFill>
              <a:latin typeface="Calibri"/>
            </a:endParaRPr>
          </a:p>
          <a:p>
            <a:pPr marL="0" indent="0" algn="ctr">
              <a:lnSpc>
                <a:spcPct val="160000"/>
              </a:lnSpc>
            </a:pPr>
            <a:r>
              <a:rPr lang="en-US" sz="1600" b="1" dirty="0">
                <a:solidFill>
                  <a:srgbClr val="B2DFDB"/>
                </a:solidFill>
                <a:latin typeface="Calibri"/>
              </a:rPr>
              <a:t>SHAP</a:t>
            </a:r>
            <a:r>
              <a:rPr lang="en-US" sz="1400" b="0" dirty="0">
                <a:solidFill>
                  <a:srgbClr val="4DB6AC"/>
                </a:solidFill>
                <a:latin typeface="Calibri"/>
              </a:rPr>
              <a:t>  (integrated end-to-end)</a:t>
            </a:r>
            <a:endParaRPr lang="en-US" sz="1400" b="0" dirty="0">
              <a:solidFill>
                <a:srgbClr val="4DB6AC"/>
              </a:solidFill>
              <a:latin typeface="Calibri"/>
            </a:endParaRPr>
          </a:p>
          <a:p>
            <a:pPr marL="179705" algn="ctr">
              <a:lnSpc>
                <a:spcPct val="160000"/>
              </a:lnSpc>
            </a:pPr>
            <a:r>
              <a:rPr lang="en-US" sz="1400" b="0" dirty="0">
                <a:solidFill>
                  <a:srgbClr val="80CBC4"/>
                </a:solidFill>
                <a:latin typeface="Calibri"/>
              </a:rPr>
              <a:t>Token attribution wired to classifier; served via /explain API</a:t>
            </a:r>
            <a:endParaRPr lang="en-US" sz="1400" b="0" dirty="0">
              <a:solidFill>
                <a:srgbClr val="80CBC4"/>
              </a:solidFill>
              <a:latin typeface="Calibri"/>
            </a:endParaRPr>
          </a:p>
          <a:p>
            <a:pPr marL="0" indent="0" algn="ctr">
              <a:lnSpc>
                <a:spcPct val="160000"/>
              </a:lnSpc>
            </a:pPr>
            <a:r>
              <a:rPr lang="en-US" sz="1600" b="1" dirty="0">
                <a:solidFill>
                  <a:srgbClr val="B2DFDB"/>
                </a:solidFill>
                <a:latin typeface="Calibri"/>
              </a:rPr>
              <a:t>GoEmotions + CARER + DailyDialog</a:t>
            </a:r>
            <a:r>
              <a:rPr lang="en-US" sz="1400" b="0" dirty="0">
                <a:solidFill>
                  <a:srgbClr val="4DB6AC"/>
                </a:solidFill>
                <a:latin typeface="Calibri"/>
              </a:rPr>
              <a:t>  (training corpora)</a:t>
            </a:r>
            <a:endParaRPr lang="en-US" sz="1400" b="0" dirty="0">
              <a:solidFill>
                <a:srgbClr val="4DB6AC"/>
              </a:solidFill>
              <a:latin typeface="Calibri"/>
            </a:endParaRPr>
          </a:p>
          <a:p>
            <a:pPr marL="179705" algn="ctr">
              <a:lnSpc>
                <a:spcPct val="160000"/>
              </a:lnSpc>
            </a:pPr>
            <a:r>
              <a:rPr lang="en-US" sz="1400" b="0" dirty="0">
                <a:solidFill>
                  <a:srgbClr val="80CBC4"/>
                </a:solidFill>
                <a:latin typeface="Calibri"/>
              </a:rPr>
              <a:t>Multi-corpus training with masked loss for partial labels</a:t>
            </a:r>
            <a:endParaRPr lang="en-US" sz="1400" b="0" dirty="0">
              <a:solidFill>
                <a:srgbClr val="80CBC4"/>
              </a:solidFill>
              <a:latin typeface="Calibri"/>
            </a:endParaRPr>
          </a:p>
          <a:p>
            <a:pPr marL="0" indent="0" algn="ctr">
              <a:lnSpc>
                <a:spcPct val="160000"/>
              </a:lnSpc>
            </a:pPr>
            <a:r>
              <a:rPr lang="en-US" sz="1600" b="1" dirty="0">
                <a:solidFill>
                  <a:srgbClr val="B2DFDB"/>
                </a:solidFill>
                <a:latin typeface="Calibri"/>
              </a:rPr>
              <a:t>FastAPI + React</a:t>
            </a:r>
            <a:r>
              <a:rPr lang="en-US" sz="1400" b="0" dirty="0">
                <a:solidFill>
                  <a:srgbClr val="4DB6AC"/>
                </a:solidFill>
                <a:latin typeface="Calibri"/>
              </a:rPr>
              <a:t>  (deployed system)</a:t>
            </a:r>
            <a:endParaRPr lang="en-US" sz="1400" b="0" dirty="0">
              <a:solidFill>
                <a:srgbClr val="4DB6AC"/>
              </a:solidFill>
              <a:latin typeface="Calibri"/>
            </a:endParaRPr>
          </a:p>
          <a:p>
            <a:pPr marL="179705" algn="ctr">
              <a:lnSpc>
                <a:spcPct val="160000"/>
              </a:lnSpc>
            </a:pPr>
            <a:r>
              <a:rPr lang="en-US" sz="1400" b="0" dirty="0">
                <a:solidFill>
                  <a:srgbClr val="80CBC4"/>
                </a:solidFill>
                <a:latin typeface="Calibri"/>
              </a:rPr>
              <a:t>REST API + live dashboard; not a notebook benchmark</a:t>
            </a:r>
            <a:endParaRPr lang="en-US" sz="1400" b="0" dirty="0">
              <a:solidFill>
                <a:srgbClr val="80CBC4"/>
              </a:solidFill>
              <a:latin typeface="Calibri"/>
            </a:endParaRPr>
          </a:p>
        </p:txBody>
      </p:sp>
      <p:sp>
        <p:nvSpPr>
          <p:cNvPr id="14" name="FooterNote"/>
          <p:cNvSpPr/>
          <p:nvPr/>
        </p:nvSpPr>
        <p:spPr>
          <a:xfrm>
            <a:off x="457200" y="6500000"/>
            <a:ext cx="11277495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i="1" dirty="0">
                <a:solidFill>
                  <a:srgbClr val="6B7280"/>
                </a:solidFill>
                <a:latin typeface="Calibri"/>
              </a:rPr>
              <a:t>The five gaps identified on the next slide arise directly from limitations in the prior-work models listed above.</a:t>
            </a:r>
            <a:endParaRPr lang="en-US" sz="900" b="0" i="1" dirty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55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Label"/>
          <p:cNvSpPr>
            <a:spLocks noGrp="1"/>
          </p:cNvSpPr>
          <p:nvPr/>
        </p:nvSpPr>
        <p:spPr>
          <a:xfrm>
            <a:off x="566928" y="301752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00" b="1" dirty="0">
                <a:solidFill>
                  <a:srgbClr val="AAADD4"/>
                </a:solidFill>
                <a:latin typeface="Calibri"/>
              </a:rPr>
              <a:t>05 · RESEARCH GAP IDENTIFICATION — EXPANDED</a:t>
            </a:r>
            <a:endParaRPr lang="en-US" sz="1200" b="1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4" name="MainTitle"/>
          <p:cNvSpPr>
            <a:spLocks noGrp="1"/>
          </p:cNvSpPr>
          <p:nvPr/>
        </p:nvSpPr>
        <p:spPr>
          <a:xfrm>
            <a:off x="566928" y="658368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Five Gaps This Project Closes Simultaneously</a:t>
            </a:r>
            <a:endParaRPr lang="en-US"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Divider"/>
          <p:cNvSpPr>
            <a:spLocks noGrp="1"/>
          </p:cNvSpPr>
          <p:nvPr/>
        </p:nvSpPr>
        <p:spPr>
          <a:xfrm>
            <a:off x="566928" y="1234440"/>
            <a:ext cx="10515600" cy="36576"/>
          </a:xfrm>
          <a:prstGeom prst="rect">
            <a:avLst/>
          </a:prstGeom>
          <a:solidFill>
            <a:srgbClr val="17A39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Card0"/>
          <p:cNvSpPr>
            <a:spLocks noGrp="1"/>
          </p:cNvSpPr>
          <p:nvPr/>
        </p:nvSpPr>
        <p:spPr>
          <a:xfrm>
            <a:off x="457200" y="1353312"/>
            <a:ext cx="2157984" cy="5230368"/>
          </a:xfrm>
          <a:prstGeom prst="rect">
            <a:avLst/>
          </a:prstGeom>
          <a:solidFill>
            <a:srgbClr val="3A3C72"/>
          </a:solidFill>
          <a:ln>
            <a:solidFill>
              <a:srgbClr val="5FD3C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NumBg0"/>
          <p:cNvSpPr>
            <a:spLocks noGrp="1"/>
          </p:cNvSpPr>
          <p:nvPr/>
        </p:nvSpPr>
        <p:spPr>
          <a:xfrm>
            <a:off x="566928" y="1490472"/>
            <a:ext cx="402336" cy="402336"/>
          </a:xfrm>
          <a:prstGeom prst="roundRect">
            <a:avLst>
              <a:gd name="adj" fmla="val 20000"/>
            </a:avLst>
          </a:prstGeom>
          <a:solidFill>
            <a:srgbClr val="5FD3C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NumTxt0"/>
          <p:cNvSpPr>
            <a:spLocks noGrp="1"/>
          </p:cNvSpPr>
          <p:nvPr/>
        </p:nvSpPr>
        <p:spPr>
          <a:xfrm>
            <a:off x="566928" y="1508760"/>
            <a:ext cx="402336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000" b="1" dirty="0">
                <a:solidFill>
                  <a:srgbClr val="232551"/>
                </a:solidFill>
                <a:latin typeface="Calibri"/>
              </a:rPr>
              <a:t>01</a:t>
            </a:r>
            <a:endParaRPr lang="en-US" sz="1000" b="1" dirty="0">
              <a:solidFill>
                <a:srgbClr val="232551"/>
              </a:solidFill>
              <a:latin typeface="Calibri"/>
            </a:endParaRPr>
          </a:p>
        </p:txBody>
      </p:sp>
      <p:sp>
        <p:nvSpPr>
          <p:cNvPr id="9" name="GapTitle0"/>
          <p:cNvSpPr>
            <a:spLocks noGrp="1"/>
          </p:cNvSpPr>
          <p:nvPr/>
        </p:nvSpPr>
        <p:spPr>
          <a:xfrm>
            <a:off x="530352" y="1975104"/>
            <a:ext cx="2011679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Calibri"/>
              </a:rPr>
              <a:t>No End-to-End XAI Pipeline</a:t>
            </a:r>
            <a:endParaRPr lang="en-US" sz="11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ILabel0"/>
          <p:cNvSpPr>
            <a:spLocks noGrp="1"/>
          </p:cNvSpPr>
          <p:nvPr/>
        </p:nvSpPr>
        <p:spPr>
          <a:xfrm>
            <a:off x="530352" y="2651760"/>
            <a:ext cx="201167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00" b="1" dirty="0">
                <a:solidFill>
                  <a:srgbClr val="5FD3C4"/>
                </a:solidFill>
                <a:latin typeface="Calibri"/>
              </a:rPr>
              <a:t>IDENTIFIED GAP</a:t>
            </a:r>
            <a:endParaRPr lang="en-US" sz="7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11" name="GapDesc0"/>
          <p:cNvSpPr>
            <a:spLocks noGrp="1"/>
          </p:cNvSpPr>
          <p:nvPr/>
        </p:nvSpPr>
        <p:spPr>
          <a:xfrm>
            <a:off x="530352" y="2862072"/>
            <a:ext cx="2011679" cy="160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0" dirty="0">
                <a:solidFill>
                  <a:srgbClr val="AAADD4"/>
                </a:solidFill>
                <a:latin typeface="Calibri"/>
              </a:rPr>
              <a:t>Fine-grained multi-label emotion classifiers (GoEmotions) and XAI tools (SHAP/LIME) exist in isolation — never integrated end-to-end into a deployable system.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12" name="Sep0"/>
          <p:cNvSpPr>
            <a:spLocks noGrp="1"/>
          </p:cNvSpPr>
          <p:nvPr/>
        </p:nvSpPr>
        <p:spPr>
          <a:xfrm>
            <a:off x="530352" y="4572000"/>
            <a:ext cx="2011679" cy="27432"/>
          </a:xfrm>
          <a:prstGeom prst="rect">
            <a:avLst/>
          </a:prstGeom>
          <a:solidFill>
            <a:srgbClr val="3A508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RLabel0"/>
          <p:cNvSpPr>
            <a:spLocks noGrp="1"/>
          </p:cNvSpPr>
          <p:nvPr/>
        </p:nvSpPr>
        <p:spPr>
          <a:xfrm>
            <a:off x="530352" y="4645152"/>
            <a:ext cx="201167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00" b="1" dirty="0">
                <a:solidFill>
                  <a:srgbClr val="5FD3C4"/>
                </a:solidFill>
                <a:latin typeface="Calibri"/>
              </a:rPr>
              <a:t>HOW WE CLOSE IT</a:t>
            </a:r>
            <a:endParaRPr lang="en-US" sz="7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14" name="GapResp0"/>
          <p:cNvSpPr>
            <a:spLocks noGrp="1"/>
          </p:cNvSpPr>
          <p:nvPr/>
        </p:nvSpPr>
        <p:spPr>
          <a:xfrm>
            <a:off x="530352" y="4873752"/>
            <a:ext cx="2011679" cy="15727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0" dirty="0">
                <a:solidFill>
                  <a:srgbClr val="AAADD4"/>
                </a:solidFill>
                <a:latin typeface="Calibri"/>
              </a:rPr>
              <a:t>SHAP token attributions wired directly to the RoBERTa classifier; served via /explain API on every prediction.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15" name="Card1"/>
          <p:cNvSpPr>
            <a:spLocks noGrp="1"/>
          </p:cNvSpPr>
          <p:nvPr/>
        </p:nvSpPr>
        <p:spPr>
          <a:xfrm>
            <a:off x="2775203" y="1353312"/>
            <a:ext cx="2157984" cy="5230368"/>
          </a:xfrm>
          <a:prstGeom prst="rect">
            <a:avLst/>
          </a:prstGeom>
          <a:solidFill>
            <a:srgbClr val="3A3C7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NumBg1"/>
          <p:cNvSpPr>
            <a:spLocks noGrp="1"/>
          </p:cNvSpPr>
          <p:nvPr/>
        </p:nvSpPr>
        <p:spPr>
          <a:xfrm>
            <a:off x="2884932" y="1490472"/>
            <a:ext cx="402336" cy="402336"/>
          </a:xfrm>
          <a:prstGeom prst="roundRect">
            <a:avLst>
              <a:gd name="adj" fmla="val 20000"/>
            </a:avLst>
          </a:prstGeom>
          <a:solidFill>
            <a:srgbClr val="A79F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NumTxt1"/>
          <p:cNvSpPr>
            <a:spLocks noGrp="1"/>
          </p:cNvSpPr>
          <p:nvPr/>
        </p:nvSpPr>
        <p:spPr>
          <a:xfrm>
            <a:off x="2884932" y="1508760"/>
            <a:ext cx="402336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000" b="1" dirty="0">
                <a:solidFill>
                  <a:srgbClr val="232551"/>
                </a:solidFill>
                <a:latin typeface="Calibri"/>
              </a:rPr>
              <a:t>02</a:t>
            </a:r>
            <a:endParaRPr lang="en-US" sz="1000" b="1" dirty="0">
              <a:solidFill>
                <a:srgbClr val="232551"/>
              </a:solidFill>
              <a:latin typeface="Calibri"/>
            </a:endParaRPr>
          </a:p>
        </p:txBody>
      </p:sp>
      <p:sp>
        <p:nvSpPr>
          <p:cNvPr id="18" name="GapTitle1"/>
          <p:cNvSpPr>
            <a:spLocks noGrp="1"/>
          </p:cNvSpPr>
          <p:nvPr/>
        </p:nvSpPr>
        <p:spPr>
          <a:xfrm>
            <a:off x="2848356" y="1975104"/>
            <a:ext cx="2011679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Calibri"/>
              </a:rPr>
              <a:t>Single-Corpus Training</a:t>
            </a:r>
            <a:endParaRPr lang="en-US" sz="11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ILabel1"/>
          <p:cNvSpPr>
            <a:spLocks noGrp="1"/>
          </p:cNvSpPr>
          <p:nvPr/>
        </p:nvSpPr>
        <p:spPr>
          <a:xfrm>
            <a:off x="2848356" y="2651760"/>
            <a:ext cx="201167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00" b="1" dirty="0">
                <a:solidFill>
                  <a:srgbClr val="A79FEB"/>
                </a:solidFill>
                <a:latin typeface="Calibri"/>
              </a:rPr>
              <a:t>IDENTIFIED GAP</a:t>
            </a:r>
            <a:endParaRPr lang="en-US" sz="700" b="1" dirty="0">
              <a:solidFill>
                <a:srgbClr val="A79FEB"/>
              </a:solidFill>
              <a:latin typeface="Calibri"/>
            </a:endParaRPr>
          </a:p>
        </p:txBody>
      </p:sp>
      <p:sp>
        <p:nvSpPr>
          <p:cNvPr id="20" name="GapDesc1"/>
          <p:cNvSpPr>
            <a:spLocks noGrp="1"/>
          </p:cNvSpPr>
          <p:nvPr/>
        </p:nvSpPr>
        <p:spPr>
          <a:xfrm>
            <a:off x="2848356" y="2862072"/>
            <a:ext cx="2011679" cy="160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0" dirty="0">
                <a:solidFill>
                  <a:srgbClr val="AAADD4"/>
                </a:solidFill>
                <a:latin typeface="Calibri"/>
              </a:rPr>
              <a:t>All reviewed systems train on one domain corpus (Reddit, Twitter, or dialogue). Partial label coverage across corpora creates false negatives with standard BCE loss.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21" name="Sep1"/>
          <p:cNvSpPr>
            <a:spLocks noGrp="1"/>
          </p:cNvSpPr>
          <p:nvPr/>
        </p:nvSpPr>
        <p:spPr>
          <a:xfrm>
            <a:off x="2848356" y="4572000"/>
            <a:ext cx="2011679" cy="27432"/>
          </a:xfrm>
          <a:prstGeom prst="rect">
            <a:avLst/>
          </a:prstGeom>
          <a:solidFill>
            <a:srgbClr val="3A508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RLabel1"/>
          <p:cNvSpPr>
            <a:spLocks noGrp="1"/>
          </p:cNvSpPr>
          <p:nvPr/>
        </p:nvSpPr>
        <p:spPr>
          <a:xfrm>
            <a:off x="2848356" y="4645152"/>
            <a:ext cx="201167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00" b="1" dirty="0">
                <a:solidFill>
                  <a:srgbClr val="A79FEB"/>
                </a:solidFill>
                <a:latin typeface="Calibri"/>
              </a:rPr>
              <a:t>HOW WE CLOSE IT</a:t>
            </a:r>
            <a:endParaRPr lang="en-US" sz="700" b="1" dirty="0">
              <a:solidFill>
                <a:srgbClr val="A79FEB"/>
              </a:solidFill>
              <a:latin typeface="Calibri"/>
            </a:endParaRPr>
          </a:p>
        </p:txBody>
      </p:sp>
      <p:sp>
        <p:nvSpPr>
          <p:cNvPr id="23" name="GapResp1"/>
          <p:cNvSpPr>
            <a:spLocks noGrp="1"/>
          </p:cNvSpPr>
          <p:nvPr/>
        </p:nvSpPr>
        <p:spPr>
          <a:xfrm>
            <a:off x="2848356" y="4873752"/>
            <a:ext cx="2011679" cy="15727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0" dirty="0">
                <a:solidFill>
                  <a:srgbClr val="AAADD4"/>
                </a:solidFill>
                <a:latin typeface="Calibri"/>
              </a:rPr>
              <a:t>Masked multi-label BCE loss — each auxiliary corpus contributes only its annotated labels, preventing false-negative signal from unannotated emotions.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24" name="Card2"/>
          <p:cNvSpPr>
            <a:spLocks noGrp="1"/>
          </p:cNvSpPr>
          <p:nvPr/>
        </p:nvSpPr>
        <p:spPr>
          <a:xfrm>
            <a:off x="5093207" y="1353312"/>
            <a:ext cx="2157984" cy="5230368"/>
          </a:xfrm>
          <a:prstGeom prst="rect">
            <a:avLst/>
          </a:prstGeom>
          <a:solidFill>
            <a:srgbClr val="3A3C72"/>
          </a:solidFill>
          <a:ln>
            <a:solidFill>
              <a:srgbClr val="5FD3C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NumBg2"/>
          <p:cNvSpPr>
            <a:spLocks noGrp="1"/>
          </p:cNvSpPr>
          <p:nvPr/>
        </p:nvSpPr>
        <p:spPr>
          <a:xfrm>
            <a:off x="5202936" y="1490472"/>
            <a:ext cx="402336" cy="402336"/>
          </a:xfrm>
          <a:prstGeom prst="roundRect">
            <a:avLst>
              <a:gd name="adj" fmla="val 20000"/>
            </a:avLst>
          </a:prstGeom>
          <a:solidFill>
            <a:srgbClr val="5FD3C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NumTxt2"/>
          <p:cNvSpPr>
            <a:spLocks noGrp="1"/>
          </p:cNvSpPr>
          <p:nvPr/>
        </p:nvSpPr>
        <p:spPr>
          <a:xfrm>
            <a:off x="5202936" y="1508760"/>
            <a:ext cx="402336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000" b="1" dirty="0">
                <a:solidFill>
                  <a:srgbClr val="232551"/>
                </a:solidFill>
                <a:latin typeface="Calibri"/>
              </a:rPr>
              <a:t>03</a:t>
            </a:r>
            <a:endParaRPr lang="en-US" sz="1000" b="1" dirty="0">
              <a:solidFill>
                <a:srgbClr val="232551"/>
              </a:solidFill>
              <a:latin typeface="Calibri"/>
            </a:endParaRPr>
          </a:p>
        </p:txBody>
      </p:sp>
      <p:sp>
        <p:nvSpPr>
          <p:cNvPr id="27" name="GapTitle2"/>
          <p:cNvSpPr>
            <a:spLocks noGrp="1"/>
          </p:cNvSpPr>
          <p:nvPr/>
        </p:nvSpPr>
        <p:spPr>
          <a:xfrm>
            <a:off x="5166359" y="1975104"/>
            <a:ext cx="2011679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Calibri"/>
              </a:rPr>
              <a:t>Whole-Document Scoring Erases Mixed Signals</a:t>
            </a:r>
            <a:endParaRPr lang="en-US" sz="11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ILabel2"/>
          <p:cNvSpPr>
            <a:spLocks noGrp="1"/>
          </p:cNvSpPr>
          <p:nvPr/>
        </p:nvSpPr>
        <p:spPr>
          <a:xfrm>
            <a:off x="5166359" y="2651760"/>
            <a:ext cx="201167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00" b="1" dirty="0">
                <a:solidFill>
                  <a:srgbClr val="5FD3C4"/>
                </a:solidFill>
                <a:latin typeface="Calibri"/>
              </a:rPr>
              <a:t>IDENTIFIED GAP</a:t>
            </a:r>
            <a:endParaRPr lang="en-US" sz="7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29" name="GapDesc2"/>
          <p:cNvSpPr>
            <a:spLocks noGrp="1"/>
          </p:cNvSpPr>
          <p:nvPr/>
        </p:nvSpPr>
        <p:spPr>
          <a:xfrm>
            <a:off x="5166359" y="2862072"/>
            <a:ext cx="2011679" cy="160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0" dirty="0">
                <a:solidFill>
                  <a:srgbClr val="AAADD4"/>
                </a:solidFill>
                <a:latin typeface="Calibri"/>
              </a:rPr>
              <a:t>No reviewed emotion system handles intra-review sentiment splits. ABSA covers fixed aspects only; praise + complaint in one review collapses to a neutral average.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30" name="Sep2"/>
          <p:cNvSpPr>
            <a:spLocks noGrp="1"/>
          </p:cNvSpPr>
          <p:nvPr/>
        </p:nvSpPr>
        <p:spPr>
          <a:xfrm>
            <a:off x="5166359" y="4572000"/>
            <a:ext cx="2011679" cy="27432"/>
          </a:xfrm>
          <a:prstGeom prst="rect">
            <a:avLst/>
          </a:prstGeom>
          <a:solidFill>
            <a:srgbClr val="3A508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RLabel2"/>
          <p:cNvSpPr>
            <a:spLocks noGrp="1"/>
          </p:cNvSpPr>
          <p:nvPr/>
        </p:nvSpPr>
        <p:spPr>
          <a:xfrm>
            <a:off x="5166359" y="4645152"/>
            <a:ext cx="201167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00" b="1" dirty="0">
                <a:solidFill>
                  <a:srgbClr val="5FD3C4"/>
                </a:solidFill>
                <a:latin typeface="Calibri"/>
              </a:rPr>
              <a:t>HOW WE CLOSE IT</a:t>
            </a:r>
            <a:endParaRPr lang="en-US" sz="7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32" name="GapResp2"/>
          <p:cNvSpPr>
            <a:spLocks noGrp="1"/>
          </p:cNvSpPr>
          <p:nvPr/>
        </p:nvSpPr>
        <p:spPr>
          <a:xfrm>
            <a:off x="5166359" y="4873752"/>
            <a:ext cx="2011679" cy="15727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0" dirty="0">
                <a:solidFill>
                  <a:srgbClr val="AAADD4"/>
                </a:solidFill>
                <a:latin typeface="Calibri"/>
              </a:rPr>
              <a:t>Dynamic segment-level scoring: reviews split on sentence boundaries and contrastive connectives ('but', 'however'); each segment scored independently.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33" name="Card3"/>
          <p:cNvSpPr>
            <a:spLocks noGrp="1"/>
          </p:cNvSpPr>
          <p:nvPr/>
        </p:nvSpPr>
        <p:spPr>
          <a:xfrm>
            <a:off x="7411211" y="1353312"/>
            <a:ext cx="2157984" cy="5230368"/>
          </a:xfrm>
          <a:prstGeom prst="rect">
            <a:avLst/>
          </a:prstGeom>
          <a:solidFill>
            <a:srgbClr val="3A3C7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NumBg3"/>
          <p:cNvSpPr>
            <a:spLocks noGrp="1"/>
          </p:cNvSpPr>
          <p:nvPr/>
        </p:nvSpPr>
        <p:spPr>
          <a:xfrm>
            <a:off x="7520939" y="1490472"/>
            <a:ext cx="402336" cy="402336"/>
          </a:xfrm>
          <a:prstGeom prst="roundRect">
            <a:avLst>
              <a:gd name="adj" fmla="val 20000"/>
            </a:avLst>
          </a:prstGeom>
          <a:solidFill>
            <a:srgbClr val="A79F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NumTxt3"/>
          <p:cNvSpPr>
            <a:spLocks noGrp="1"/>
          </p:cNvSpPr>
          <p:nvPr/>
        </p:nvSpPr>
        <p:spPr>
          <a:xfrm>
            <a:off x="7520939" y="1508760"/>
            <a:ext cx="402336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000" b="1" dirty="0">
                <a:solidFill>
                  <a:srgbClr val="232551"/>
                </a:solidFill>
                <a:latin typeface="Calibri"/>
              </a:rPr>
              <a:t>04</a:t>
            </a:r>
            <a:endParaRPr lang="en-US" sz="1000" b="1" dirty="0">
              <a:solidFill>
                <a:srgbClr val="232551"/>
              </a:solidFill>
              <a:latin typeface="Calibri"/>
            </a:endParaRPr>
          </a:p>
        </p:txBody>
      </p:sp>
      <p:sp>
        <p:nvSpPr>
          <p:cNvPr id="36" name="GapTitle3"/>
          <p:cNvSpPr>
            <a:spLocks noGrp="1"/>
          </p:cNvSpPr>
          <p:nvPr/>
        </p:nvSpPr>
        <p:spPr>
          <a:xfrm>
            <a:off x="7484363" y="1975104"/>
            <a:ext cx="2011679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Calibri"/>
              </a:rPr>
              <a:t>Academic Labels Not Business-Actionable</a:t>
            </a:r>
            <a:endParaRPr lang="en-US" sz="11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7" name="ILabel3"/>
          <p:cNvSpPr>
            <a:spLocks noGrp="1"/>
          </p:cNvSpPr>
          <p:nvPr/>
        </p:nvSpPr>
        <p:spPr>
          <a:xfrm>
            <a:off x="7484363" y="2651760"/>
            <a:ext cx="201167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00" b="1" dirty="0">
                <a:solidFill>
                  <a:srgbClr val="A79FEB"/>
                </a:solidFill>
                <a:latin typeface="Calibri"/>
              </a:rPr>
              <a:t>IDENTIFIED GAP</a:t>
            </a:r>
            <a:endParaRPr lang="en-US" sz="700" b="1" dirty="0">
              <a:solidFill>
                <a:srgbClr val="A79FEB"/>
              </a:solidFill>
              <a:latin typeface="Calibri"/>
            </a:endParaRPr>
          </a:p>
        </p:txBody>
      </p:sp>
      <p:sp>
        <p:nvSpPr>
          <p:cNvPr id="38" name="GapDesc3"/>
          <p:cNvSpPr>
            <a:spLocks noGrp="1"/>
          </p:cNvSpPr>
          <p:nvPr/>
        </p:nvSpPr>
        <p:spPr>
          <a:xfrm>
            <a:off x="7484363" y="2862072"/>
            <a:ext cx="2011679" cy="160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0" dirty="0">
                <a:solidFill>
                  <a:srgbClr val="AAADD4"/>
                </a:solidFill>
                <a:latin typeface="Calibri"/>
              </a:rPr>
              <a:t>The 27-label GoEmotions taxonomy is rigorous but opaque to business stakeholders. No reviewed paper maps fine-grained labels to operational decision categories.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39" name="Sep3"/>
          <p:cNvSpPr>
            <a:spLocks noGrp="1"/>
          </p:cNvSpPr>
          <p:nvPr/>
        </p:nvSpPr>
        <p:spPr>
          <a:xfrm>
            <a:off x="7484363" y="4572000"/>
            <a:ext cx="2011679" cy="27432"/>
          </a:xfrm>
          <a:prstGeom prst="rect">
            <a:avLst/>
          </a:prstGeom>
          <a:solidFill>
            <a:srgbClr val="3A508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RLabel3"/>
          <p:cNvSpPr>
            <a:spLocks noGrp="1"/>
          </p:cNvSpPr>
          <p:nvPr/>
        </p:nvSpPr>
        <p:spPr>
          <a:xfrm>
            <a:off x="7484363" y="4645152"/>
            <a:ext cx="201167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00" b="1" dirty="0">
                <a:solidFill>
                  <a:srgbClr val="A79FEB"/>
                </a:solidFill>
                <a:latin typeface="Calibri"/>
              </a:rPr>
              <a:t>HOW WE CLOSE IT</a:t>
            </a:r>
            <a:endParaRPr lang="en-US" sz="700" b="1" dirty="0">
              <a:solidFill>
                <a:srgbClr val="A79FEB"/>
              </a:solidFill>
              <a:latin typeface="Calibri"/>
            </a:endParaRPr>
          </a:p>
        </p:txBody>
      </p:sp>
      <p:sp>
        <p:nvSpPr>
          <p:cNvPr id="41" name="GapResp3"/>
          <p:cNvSpPr>
            <a:spLocks noGrp="1"/>
          </p:cNvSpPr>
          <p:nvPr/>
        </p:nvSpPr>
        <p:spPr>
          <a:xfrm>
            <a:off x="7484363" y="4873752"/>
            <a:ext cx="2011679" cy="15727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0" dirty="0">
                <a:solidFill>
                  <a:srgbClr val="AAADD4"/>
                </a:solidFill>
                <a:latin typeface="Calibri"/>
              </a:rPr>
              <a:t>Four-bucket business rollup: Satisfaction, Frustration, Confusion, Concern — layered over the raw 28-label space for non-technical consumers.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42" name="Card4"/>
          <p:cNvSpPr>
            <a:spLocks noGrp="1"/>
          </p:cNvSpPr>
          <p:nvPr/>
        </p:nvSpPr>
        <p:spPr>
          <a:xfrm>
            <a:off x="9729215" y="1353312"/>
            <a:ext cx="2157984" cy="5230368"/>
          </a:xfrm>
          <a:prstGeom prst="rect">
            <a:avLst/>
          </a:prstGeom>
          <a:solidFill>
            <a:srgbClr val="3A3C72"/>
          </a:solidFill>
          <a:ln>
            <a:solidFill>
              <a:srgbClr val="5FD3C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3" name="NumBg4"/>
          <p:cNvSpPr>
            <a:spLocks noGrp="1"/>
          </p:cNvSpPr>
          <p:nvPr/>
        </p:nvSpPr>
        <p:spPr>
          <a:xfrm>
            <a:off x="9838943" y="1490472"/>
            <a:ext cx="402336" cy="402336"/>
          </a:xfrm>
          <a:prstGeom prst="roundRect">
            <a:avLst>
              <a:gd name="adj" fmla="val 20000"/>
            </a:avLst>
          </a:prstGeom>
          <a:solidFill>
            <a:srgbClr val="5FD3C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4" name="NumTxt4"/>
          <p:cNvSpPr>
            <a:spLocks noGrp="1"/>
          </p:cNvSpPr>
          <p:nvPr/>
        </p:nvSpPr>
        <p:spPr>
          <a:xfrm>
            <a:off x="9838943" y="1508760"/>
            <a:ext cx="402336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000" b="1" dirty="0">
                <a:solidFill>
                  <a:srgbClr val="232551"/>
                </a:solidFill>
                <a:latin typeface="Calibri"/>
              </a:rPr>
              <a:t>05</a:t>
            </a:r>
            <a:endParaRPr lang="en-US" sz="1000" b="1" dirty="0">
              <a:solidFill>
                <a:srgbClr val="232551"/>
              </a:solidFill>
              <a:latin typeface="Calibri"/>
            </a:endParaRPr>
          </a:p>
        </p:txBody>
      </p:sp>
      <p:sp>
        <p:nvSpPr>
          <p:cNvPr id="45" name="GapTitle4"/>
          <p:cNvSpPr>
            <a:spLocks noGrp="1"/>
          </p:cNvSpPr>
          <p:nvPr/>
        </p:nvSpPr>
        <p:spPr>
          <a:xfrm>
            <a:off x="9802367" y="1975104"/>
            <a:ext cx="2011679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Calibri"/>
              </a:rPr>
              <a:t>No Deployed, Callable System</a:t>
            </a:r>
            <a:endParaRPr lang="en-US" sz="11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6" name="ILabel4"/>
          <p:cNvSpPr>
            <a:spLocks noGrp="1"/>
          </p:cNvSpPr>
          <p:nvPr/>
        </p:nvSpPr>
        <p:spPr>
          <a:xfrm>
            <a:off x="9802367" y="2651760"/>
            <a:ext cx="201167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00" b="1" dirty="0">
                <a:solidFill>
                  <a:srgbClr val="5FD3C4"/>
                </a:solidFill>
                <a:latin typeface="Calibri"/>
              </a:rPr>
              <a:t>IDENTIFIED GAP</a:t>
            </a:r>
            <a:endParaRPr lang="en-US" sz="7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47" name="GapDesc4"/>
          <p:cNvSpPr>
            <a:spLocks noGrp="1"/>
          </p:cNvSpPr>
          <p:nvPr/>
        </p:nvSpPr>
        <p:spPr>
          <a:xfrm>
            <a:off x="9802367" y="2862072"/>
            <a:ext cx="2011679" cy="160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0" dirty="0">
                <a:solidFill>
                  <a:srgbClr val="AAADD4"/>
                </a:solidFill>
                <a:latin typeface="Calibri"/>
              </a:rPr>
              <a:t>Every reviewed paper delivers a trained model or benchmark notebook — none provides a callable REST API + analytics UI usable by a product or operations team.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48" name="Sep4"/>
          <p:cNvSpPr>
            <a:spLocks noGrp="1"/>
          </p:cNvSpPr>
          <p:nvPr/>
        </p:nvSpPr>
        <p:spPr>
          <a:xfrm>
            <a:off x="9802367" y="4572000"/>
            <a:ext cx="2011679" cy="27432"/>
          </a:xfrm>
          <a:prstGeom prst="rect">
            <a:avLst/>
          </a:prstGeom>
          <a:solidFill>
            <a:srgbClr val="3A508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9" name="RLabel4"/>
          <p:cNvSpPr>
            <a:spLocks noGrp="1"/>
          </p:cNvSpPr>
          <p:nvPr/>
        </p:nvSpPr>
        <p:spPr>
          <a:xfrm>
            <a:off x="9802367" y="4645152"/>
            <a:ext cx="201167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00" b="1" dirty="0">
                <a:solidFill>
                  <a:srgbClr val="5FD3C4"/>
                </a:solidFill>
                <a:latin typeface="Calibri"/>
              </a:rPr>
              <a:t>HOW WE CLOSE IT</a:t>
            </a:r>
            <a:endParaRPr lang="en-US" sz="7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50" name="GapResp4"/>
          <p:cNvSpPr>
            <a:spLocks noGrp="1"/>
          </p:cNvSpPr>
          <p:nvPr/>
        </p:nvSpPr>
        <p:spPr>
          <a:xfrm>
            <a:off x="9802367" y="4873752"/>
            <a:ext cx="2011679" cy="15727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0" dirty="0">
                <a:solidFill>
                  <a:srgbClr val="AAADD4"/>
                </a:solidFill>
                <a:latin typeface="Calibri"/>
              </a:rPr>
              <a:t>Full-stack deployment: FastAPI prediction/explain/batch endpoints, React dashboard (Analyze, Dashboard, Batch, Model tabs), Docker Compose, Celery async workers.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51" name="BottomNote"/>
          <p:cNvSpPr>
            <a:spLocks noGrp="1"/>
          </p:cNvSpPr>
          <p:nvPr/>
        </p:nvSpPr>
        <p:spPr>
          <a:xfrm>
            <a:off x="566928" y="6601968"/>
            <a:ext cx="109728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800" b="0" dirty="0">
                <a:solidFill>
                  <a:srgbClr val="6E70A8"/>
                </a:solidFill>
                <a:latin typeface="Calibri"/>
              </a:rPr>
              <a:t>No single reviewed paper closes more than two of these five gaps simultaneously. This project closes all five — verifiable against the codebase.</a:t>
            </a:r>
            <a:endParaRPr lang="en-US" sz="800" b="0" dirty="0">
              <a:solidFill>
                <a:srgbClr val="6E70A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INNOVATION &amp; NOVELTY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Conventional pipeline vs. this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engineering decisions that separate this build from a standard sentiment pipeline.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1773936"/>
            <a:ext cx="32186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151376" y="1773936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SENTIMENT ANALYSIS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138160" y="1773936"/>
            <a:ext cx="371246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49808" y="2103120"/>
            <a:ext cx="303580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space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931920" y="2103120"/>
            <a:ext cx="3840480" cy="676656"/>
          </a:xfrm>
          <a:prstGeom prst="roundRect">
            <a:avLst>
              <a:gd name="adj" fmla="val 1216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51376" y="2103120"/>
            <a:ext cx="340156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polarity classes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918704" y="2103120"/>
            <a:ext cx="3712464" cy="676656"/>
          </a:xfrm>
          <a:prstGeom prst="roundRect">
            <a:avLst>
              <a:gd name="adj" fmla="val 10811"/>
            </a:avLst>
          </a:prstGeom>
          <a:solidFill>
            <a:srgbClr val="17A398">
              <a:alpha val="10000"/>
            </a:srgbClr>
          </a:solidFill>
          <a:ln w="11430">
            <a:solidFill>
              <a:srgbClr val="17A39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38160" y="2103120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multi-label emotions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49808" y="2889504"/>
            <a:ext cx="303580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931920" y="2889504"/>
            <a:ext cx="3840480" cy="676656"/>
          </a:xfrm>
          <a:prstGeom prst="roundRect">
            <a:avLst>
              <a:gd name="adj" fmla="val 1216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51376" y="2889504"/>
            <a:ext cx="340156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review scored once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918704" y="2889504"/>
            <a:ext cx="3712464" cy="676656"/>
          </a:xfrm>
          <a:prstGeom prst="roundRect">
            <a:avLst>
              <a:gd name="adj" fmla="val 10811"/>
            </a:avLst>
          </a:prstGeom>
          <a:solidFill>
            <a:srgbClr val="5A4FCF">
              <a:alpha val="10000"/>
            </a:srgbClr>
          </a:solidFill>
          <a:ln w="11430">
            <a:solidFill>
              <a:srgbClr val="5A4FC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38160" y="2889504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Segment-aware scoring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49808" y="3675888"/>
            <a:ext cx="303580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931920" y="3675888"/>
            <a:ext cx="3840480" cy="676656"/>
          </a:xfrm>
          <a:prstGeom prst="roundRect">
            <a:avLst>
              <a:gd name="adj" fmla="val 1216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51376" y="3675888"/>
            <a:ext cx="340156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Absent, or added post-hoc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18704" y="3675888"/>
            <a:ext cx="3712464" cy="676656"/>
          </a:xfrm>
          <a:prstGeom prst="roundRect">
            <a:avLst>
              <a:gd name="adj" fmla="val 10811"/>
            </a:avLst>
          </a:prstGeom>
          <a:solidFill>
            <a:srgbClr val="D9922E">
              <a:alpha val="10000"/>
            </a:srgbClr>
          </a:solidFill>
          <a:ln w="11430">
            <a:solidFill>
              <a:srgbClr val="D9922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38160" y="3675888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built into the workflow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49808" y="4462272"/>
            <a:ext cx="303580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framing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931920" y="4462272"/>
            <a:ext cx="3840480" cy="676656"/>
          </a:xfrm>
          <a:prstGeom prst="roundRect">
            <a:avLst>
              <a:gd name="adj" fmla="val 1216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51376" y="4462272"/>
            <a:ext cx="340156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model output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918704" y="4462272"/>
            <a:ext cx="3712464" cy="676656"/>
          </a:xfrm>
          <a:prstGeom prst="roundRect">
            <a:avLst>
              <a:gd name="adj" fmla="val 10811"/>
            </a:avLst>
          </a:prstGeom>
          <a:solidFill>
            <a:srgbClr val="E8604C">
              <a:alpha val="10000"/>
            </a:srgbClr>
          </a:solidFill>
          <a:ln w="11430">
            <a:solidFill>
              <a:srgbClr val="E8604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138160" y="4462272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actionable categories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49808" y="5248656"/>
            <a:ext cx="303580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scope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3931920" y="5248656"/>
            <a:ext cx="3840480" cy="676656"/>
          </a:xfrm>
          <a:prstGeom prst="roundRect">
            <a:avLst>
              <a:gd name="adj" fmla="val 1216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51376" y="5248656"/>
            <a:ext cx="340156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endpoint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18704" y="5248656"/>
            <a:ext cx="3712464" cy="676656"/>
          </a:xfrm>
          <a:prstGeom prst="roundRect">
            <a:avLst>
              <a:gd name="adj" fmla="val 10811"/>
            </a:avLst>
          </a:prstGeom>
          <a:solidFill>
            <a:srgbClr val="3D3D8F">
              <a:alpha val="10000"/>
            </a:srgbClr>
          </a:solidFill>
          <a:ln w="11430">
            <a:solidFill>
              <a:srgbClr val="3D3D8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138160" y="5248656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· XAI · caching · analytics · batch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66928" y="6163056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README positions the deliverable as a capstone decision-support system — not a production system.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CREATIVITY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output is a workspace, not a score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model's output is presented so a stakeholder can use it.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901952"/>
            <a:ext cx="310896" cy="310896"/>
          </a:xfrm>
          <a:prstGeom prst="ellipse">
            <a:avLst/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190195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42416" y="181051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analysis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42416" y="2103120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 is explored, not reduced to one polarity value.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" y="2761488"/>
            <a:ext cx="310896" cy="31089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276148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42416" y="267004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token explanation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042416" y="2962656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words show what pushed each emotion up.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3621024"/>
            <a:ext cx="310896" cy="310896"/>
          </a:xfrm>
          <a:prstGeom prst="ellipse">
            <a:avLst/>
          </a:prstGeom>
          <a:solidFill>
            <a:srgbClr val="D9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362102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42416" y="3529584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Mixed-review detection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42416" y="3798062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 and complaint are surfaced separately, side by side.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66928" y="4480560"/>
            <a:ext cx="310896" cy="310896"/>
          </a:xfrm>
          <a:prstGeom prst="ellipse">
            <a:avLst/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448056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42416" y="438912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Trend-level analytics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042416" y="4681728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distributions, buckets and movement over time.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66928" y="5340096"/>
            <a:ext cx="310896" cy="310896"/>
          </a:xfrm>
          <a:prstGeom prst="ellipse">
            <a:avLst/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53400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42416" y="524865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bridge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042416" y="5541264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NLP output becomes something a business can act on.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382512" y="1700784"/>
            <a:ext cx="5248656" cy="4334256"/>
          </a:xfrm>
          <a:prstGeom prst="roundRect">
            <a:avLst>
              <a:gd name="adj" fmla="val 189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638544" y="184708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CONCEPT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0351008" y="1847088"/>
            <a:ext cx="10241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9A9C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</a:t>
            </a:r>
            <a:endParaRPr lang="en-US" sz="95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6492240" y="2103120"/>
          <a:ext cx="28346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0" name="Shape 26"/>
          <p:cNvSpPr/>
          <p:nvPr/>
        </p:nvSpPr>
        <p:spPr>
          <a:xfrm>
            <a:off x="9400032" y="2487168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637776" y="2432304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9400032" y="2871216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E86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9637776" y="2816352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9400032" y="3255264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D9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9637776" y="320040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9400032" y="3639312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637776" y="3584448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</a:t>
            </a:r>
            <a:endParaRPr lang="en-US" sz="1150" dirty="0"/>
          </a:p>
        </p:txBody>
      </p:sp>
      <p:sp>
        <p:nvSpPr>
          <p:cNvPr id="38" name="Text 34"/>
          <p:cNvSpPr/>
          <p:nvPr/>
        </p:nvSpPr>
        <p:spPr>
          <a:xfrm>
            <a:off x="6638544" y="451713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ATTRIBUTION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6638544" y="4773168"/>
            <a:ext cx="4736592" cy="676656"/>
          </a:xfrm>
          <a:prstGeom prst="roundRect">
            <a:avLst>
              <a:gd name="adj" fmla="val 10811"/>
            </a:avLst>
          </a:prstGeom>
          <a:solidFill>
            <a:srgbClr val="F3F3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784848" y="4919472"/>
            <a:ext cx="45628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7314286" y="4919472"/>
            <a:ext cx="796442" cy="329184"/>
          </a:xfrm>
          <a:prstGeom prst="roundRect">
            <a:avLst>
              <a:gd name="adj" fmla="val 16667"/>
            </a:avLst>
          </a:prstGeom>
          <a:solidFill>
            <a:srgbClr val="E8604C">
              <a:alpha val="8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314286" y="4919472"/>
            <a:ext cx="79644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8183880" y="4919472"/>
            <a:ext cx="711403" cy="329184"/>
          </a:xfrm>
          <a:prstGeom prst="roundRect">
            <a:avLst>
              <a:gd name="adj" fmla="val 16667"/>
            </a:avLst>
          </a:prstGeom>
          <a:solidFill>
            <a:srgbClr val="E8604C">
              <a:alpha val="8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183880" y="4919472"/>
            <a:ext cx="711403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drains</a:t>
            </a:r>
            <a:endParaRPr lang="en-US" sz="1200" dirty="0"/>
          </a:p>
        </p:txBody>
      </p:sp>
      <p:sp>
        <p:nvSpPr>
          <p:cNvPr id="45" name="Text 41"/>
          <p:cNvSpPr/>
          <p:nvPr/>
        </p:nvSpPr>
        <p:spPr>
          <a:xfrm>
            <a:off x="8968435" y="4919472"/>
            <a:ext cx="711403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9752990" y="4919472"/>
            <a:ext cx="45628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endParaRPr lang="en-US" sz="1200" dirty="0"/>
          </a:p>
        </p:txBody>
      </p:sp>
      <p:sp>
        <p:nvSpPr>
          <p:cNvPr id="47" name="Shape 43"/>
          <p:cNvSpPr/>
          <p:nvPr/>
        </p:nvSpPr>
        <p:spPr>
          <a:xfrm>
            <a:off x="10282428" y="4919472"/>
            <a:ext cx="626364" cy="329184"/>
          </a:xfrm>
          <a:prstGeom prst="roundRect">
            <a:avLst>
              <a:gd name="adj" fmla="val 16667"/>
            </a:avLst>
          </a:prstGeom>
          <a:solidFill>
            <a:srgbClr val="D9922E">
              <a:alpha val="8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10282428" y="4919472"/>
            <a:ext cx="62636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200" dirty="0"/>
          </a:p>
        </p:txBody>
      </p:sp>
      <p:sp>
        <p:nvSpPr>
          <p:cNvPr id="49" name="Text 45"/>
          <p:cNvSpPr/>
          <p:nvPr/>
        </p:nvSpPr>
        <p:spPr>
          <a:xfrm>
            <a:off x="6656832" y="5522976"/>
            <a:ext cx="47000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Shaded tokens carry the strongest contribution to the predicted emotion.</a:t>
            </a:r>
            <a:endParaRPr lang="en-US" sz="1000" dirty="0"/>
          </a:p>
        </p:txBody>
      </p:sp>
      <p:sp>
        <p:nvSpPr>
          <p:cNvPr id="50" name="Text 46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FEASIBILITY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 is specified end to end, and partly running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has a named technology; deployment is under way, not finished.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737360"/>
            <a:ext cx="3520440" cy="213969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920240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3D3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1920240"/>
            <a:ext cx="9692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04672" y="2322576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04672" y="2670048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Transformers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4672" y="3017520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04672" y="336499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88536" y="1737360"/>
            <a:ext cx="3520440" cy="213969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26280" y="1920240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26280" y="1920240"/>
            <a:ext cx="9692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26280" y="2322576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26280" y="2670048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26280" y="3017520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26280" y="336499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010144" y="1737360"/>
            <a:ext cx="3520440" cy="213969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47888" y="1920240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47888" y="1920240"/>
            <a:ext cx="9692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247888" y="2322576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247888" y="2670048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247888" y="3017520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upload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247888" y="336499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page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66928" y="405993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1938528" y="4059936"/>
            <a:ext cx="40233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T4 GPU or a local CUDA GPU — kept separate from application deployment.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190488" y="405993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setup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7562088" y="4059936"/>
            <a:ext cx="40233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brings up PostgreSQL, Redis, backend, worker and frontend reproducibly.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66928" y="48463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1938528" y="4846320"/>
            <a:ext cx="40233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is live on Vercel and the API is live on Render — the model artifact is not hosted yet, so prediction routes still return 503.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6190488" y="48463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7562088" y="4846320"/>
            <a:ext cx="40233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explanations are cached and inference runs off the FastAPI event loop.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566928" y="5705856"/>
            <a:ext cx="11055096" cy="603504"/>
          </a:xfrm>
          <a:prstGeom prst="roundRect">
            <a:avLst>
              <a:gd name="adj" fmla="val 12121"/>
            </a:avLst>
          </a:prstGeom>
          <a:solidFill>
            <a:srgbClr val="FDF6E9"/>
          </a:solidFill>
          <a:ln w="9525">
            <a:solidFill>
              <a:srgbClr val="F0DDB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22960" y="5705856"/>
            <a:ext cx="10515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constraints:   </a:t>
            </a:r>
            <a:r>
              <a:rPr lang="en-US" sz="1200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  ·  no database migrations  ·  128-token context  ·  product-review domain gap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PROJECT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phases from literature to deployment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delivery; each phase produces an artefact the next one depends on.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7824" y="1883664"/>
            <a:ext cx="2798064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3232" y="1719072"/>
            <a:ext cx="329184" cy="329184"/>
          </a:xfrm>
          <a:prstGeom prst="ellipse">
            <a:avLst/>
          </a:prstGeom>
          <a:solidFill>
            <a:srgbClr val="3D3D8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" y="2157984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6384" y="2322576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86384" y="256032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&amp; Literature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86384" y="3072384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 problem, objectives, datasets and evaluation criteria.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75888" y="1883664"/>
            <a:ext cx="2798064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11296" y="1719072"/>
            <a:ext cx="329184" cy="329184"/>
          </a:xfrm>
          <a:prstGeom prst="ellipse">
            <a:avLst/>
          </a:prstGeom>
          <a:solidFill>
            <a:srgbClr val="3D3D8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64992" y="2157984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584448" y="2322576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584448" y="256032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584448" y="3072384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GoEmotions and auxiliary sets; define label maps and coverage masks.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73952" y="1883664"/>
            <a:ext cx="2798064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09360" y="1719072"/>
            <a:ext cx="329184" cy="329184"/>
          </a:xfrm>
          <a:prstGeom prst="ellipse">
            <a:avLst/>
          </a:prstGeom>
          <a:solidFill>
            <a:srgbClr val="5A4FC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63056" y="2157984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382512" y="2322576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5A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382512" y="256032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382512" y="3072384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RoBERTa using multi-label BCE loss.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9272016" y="1883664"/>
            <a:ext cx="0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107424" y="1719072"/>
            <a:ext cx="329184" cy="329184"/>
          </a:xfrm>
          <a:prstGeom prst="ellipse">
            <a:avLst/>
          </a:prstGeom>
          <a:solidFill>
            <a:srgbClr val="5A4FC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961120" y="2157984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180576" y="2322576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5A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9180576" y="256032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180576" y="3072384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per-label thresholds and generate test metrics.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877824" y="4023360"/>
            <a:ext cx="2798064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13232" y="3858768"/>
            <a:ext cx="329184" cy="329184"/>
          </a:xfrm>
          <a:prstGeom prst="ellipse">
            <a:avLst/>
          </a:prstGeom>
          <a:solidFill>
            <a:srgbClr val="17A39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6928" y="4297680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786384" y="446227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05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86384" y="4700016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86384" y="521208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SHAP token attributions with Redis caching.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3675888" y="4023360"/>
            <a:ext cx="2798064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511296" y="3858768"/>
            <a:ext cx="329184" cy="329184"/>
          </a:xfrm>
          <a:prstGeom prst="ellipse">
            <a:avLst/>
          </a:prstGeom>
          <a:solidFill>
            <a:srgbClr val="17A39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364992" y="4297680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3584448" y="446227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06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3584448" y="4700016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3584448" y="521208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prediction, analysis, explanation, batch and analytics APIs.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6473952" y="4023360"/>
            <a:ext cx="2798064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309360" y="3858768"/>
            <a:ext cx="329184" cy="329184"/>
          </a:xfrm>
          <a:prstGeom prst="ellipse">
            <a:avLst/>
          </a:prstGeom>
          <a:solidFill>
            <a:srgbClr val="D992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163056" y="4297680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6382512" y="446227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D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07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6382512" y="4700016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6382512" y="521208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pages for Analyze, Dashboard, Batch and Model.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9272016" y="4023360"/>
            <a:ext cx="0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9107424" y="3858768"/>
            <a:ext cx="329184" cy="329184"/>
          </a:xfrm>
          <a:prstGeom prst="ellipse">
            <a:avLst/>
          </a:prstGeom>
          <a:solidFill>
            <a:srgbClr val="E860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961120" y="4297680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9180576" y="446227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08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9180576" y="4700016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Deployment</a:t>
            </a:r>
            <a:endParaRPr lang="en-US" sz="1400" dirty="0"/>
          </a:p>
        </p:txBody>
      </p:sp>
      <p:sp>
        <p:nvSpPr>
          <p:cNvPr id="53" name="Text 50"/>
          <p:cNvSpPr/>
          <p:nvPr/>
        </p:nvSpPr>
        <p:spPr>
          <a:xfrm>
            <a:off x="9180576" y="521208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42-test suite, Dockerise services, deploy backend and frontend.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EXPECTED OUTCOME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will exist when the project is finished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deliverables targeted for submission — criteria to meet, not results already claimed.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77393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011680"/>
            <a:ext cx="402336" cy="402336"/>
          </a:xfrm>
          <a:prstGeom prst="ellipse">
            <a:avLst/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199339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2505456"/>
            <a:ext cx="30449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calibrated classifier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2871216"/>
            <a:ext cx="30449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classified into 28 emotions with per-label tuned thresholds.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88536" y="177393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26280" y="2011680"/>
            <a:ext cx="402336" cy="402336"/>
          </a:xfrm>
          <a:prstGeom prst="ellipse">
            <a:avLst/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6280" y="199339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26280" y="2505456"/>
            <a:ext cx="30449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explanations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26280" y="2871216"/>
            <a:ext cx="30449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attributions returned with every prediction, cached for reuse.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10144" y="177393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47888" y="2011680"/>
            <a:ext cx="402336" cy="402336"/>
          </a:xfrm>
          <a:prstGeom prst="ellipse">
            <a:avLst/>
          </a:prstGeom>
          <a:solidFill>
            <a:srgbClr val="D9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47888" y="199339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47888" y="2505456"/>
            <a:ext cx="30449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Mixed-review handling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47888" y="2871216"/>
            <a:ext cx="30449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carrying both praise and complaint resolved clause by clause.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66928" y="387705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04672" y="4114800"/>
            <a:ext cx="402336" cy="40233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4672" y="409651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04672" y="4608576"/>
            <a:ext cx="30449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Business-ready output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04672" y="4974336"/>
            <a:ext cx="30449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buckets and trend analytics for non-technical stakeholders.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288536" y="387705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26280" y="4114800"/>
            <a:ext cx="402336" cy="402336"/>
          </a:xfrm>
          <a:prstGeom prst="ellipse">
            <a:avLst/>
          </a:prstGeom>
          <a:solidFill>
            <a:srgbClr val="3D3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26280" y="409651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526280" y="4608576"/>
            <a:ext cx="30449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and dashboard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4526280" y="4974336"/>
            <a:ext cx="30449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plus a web UI for individual and batch analysis.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010144" y="387705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47888" y="4114800"/>
            <a:ext cx="402336" cy="402336"/>
          </a:xfrm>
          <a:prstGeom prst="ellipse">
            <a:avLst/>
          </a:prstGeom>
          <a:solidFill>
            <a:srgbClr val="3D3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47888" y="409651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247888" y="4608576"/>
            <a:ext cx="30449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reproducible, documented build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8247888" y="4974336"/>
            <a:ext cx="30449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from a committed config, with limitations stated openly.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HIGH-LEVEL SYSTEM FLOW</a:t>
            </a:r>
            <a:endParaRPr lang="en-US" sz="1100" b="1" kern="0" spc="24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81660" y="1019810"/>
            <a:ext cx="10154285" cy="42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review to an explained, aggregated result</a:t>
            </a:r>
            <a:endParaRPr lang="en-US" sz="3000" b="1" dirty="0">
              <a:solidFill>
                <a:schemeClr val="tx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2029460"/>
            <a:ext cx="2048256" cy="1463040"/>
          </a:xfrm>
          <a:prstGeom prst="roundRect">
            <a:avLst>
              <a:gd name="adj" fmla="val 6250"/>
            </a:avLst>
          </a:prstGeom>
          <a:solidFill>
            <a:srgbClr val="232551"/>
          </a:solidFill>
          <a:ln w="20320">
            <a:solidFill>
              <a:srgbClr val="9BA0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2175764"/>
            <a:ext cx="1828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76656" y="2980436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BA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input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15184" y="2523236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07792" y="2029460"/>
            <a:ext cx="2048256" cy="1463040"/>
          </a:xfrm>
          <a:prstGeom prst="roundRect">
            <a:avLst>
              <a:gd name="adj" fmla="val 6250"/>
            </a:avLst>
          </a:prstGeom>
          <a:solidFill>
            <a:srgbClr val="232551"/>
          </a:solidFill>
          <a:ln w="20320">
            <a:solidFill>
              <a:srgbClr val="8E9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2175764"/>
            <a:ext cx="1828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2980436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E9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connectives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56048" y="2523236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248656" y="2029460"/>
            <a:ext cx="2048256" cy="1463040"/>
          </a:xfrm>
          <a:prstGeom prst="roundRect">
            <a:avLst>
              <a:gd name="adj" fmla="val 6250"/>
            </a:avLst>
          </a:prstGeom>
          <a:solidFill>
            <a:srgbClr val="232551"/>
          </a:solidFill>
          <a:ln w="20320">
            <a:solidFill>
              <a:srgbClr val="A79F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58384" y="2175764"/>
            <a:ext cx="1828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28-label model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58384" y="2980436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79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scoring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296912" y="2523236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589520" y="2029460"/>
            <a:ext cx="2048256" cy="1463040"/>
          </a:xfrm>
          <a:prstGeom prst="roundRect">
            <a:avLst>
              <a:gd name="adj" fmla="val 6250"/>
            </a:avLst>
          </a:prstGeom>
          <a:solidFill>
            <a:srgbClr val="232551"/>
          </a:solidFill>
          <a:ln w="20320">
            <a:solidFill>
              <a:srgbClr val="5FD3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99248" y="2175764"/>
            <a:ext cx="1828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99248" y="2980436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attributions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637776" y="2523236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930384" y="2029460"/>
            <a:ext cx="2048256" cy="1463040"/>
          </a:xfrm>
          <a:prstGeom prst="roundRect">
            <a:avLst>
              <a:gd name="adj" fmla="val 6250"/>
            </a:avLst>
          </a:prstGeom>
          <a:solidFill>
            <a:srgbClr val="232551"/>
          </a:solidFill>
          <a:ln w="20320">
            <a:solidFill>
              <a:srgbClr val="F091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40112" y="2175764"/>
            <a:ext cx="1828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40112" y="2980436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9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4-way aggregation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38216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b="1" kern="0" spc="2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66928" y="4114292"/>
            <a:ext cx="1565453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4A4C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114292"/>
            <a:ext cx="1565453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D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scores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296973" y="4114292"/>
            <a:ext cx="1744675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4A4C8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96973" y="4114292"/>
            <a:ext cx="1744675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D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labels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206240" y="4114292"/>
            <a:ext cx="1834286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4A4C8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4114292"/>
            <a:ext cx="1834286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D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mixed-review flag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05118" y="4114292"/>
            <a:ext cx="1296619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4A4C8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05118" y="4114292"/>
            <a:ext cx="1296619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D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666330" y="4114292"/>
            <a:ext cx="1117397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4A4C8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66330" y="4114292"/>
            <a:ext cx="1117397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D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" y="4882388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SERVICES</a:t>
            </a:r>
            <a:endParaRPr lang="en-US" sz="1050" b="1" kern="0" spc="2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66928" y="5174996"/>
            <a:ext cx="3520440" cy="1042416"/>
          </a:xfrm>
          <a:prstGeom prst="roundRect">
            <a:avLst>
              <a:gd name="adj" fmla="val 7895"/>
            </a:avLst>
          </a:prstGeom>
          <a:solidFill>
            <a:srgbClr val="232551"/>
          </a:solidFill>
          <a:ln w="12700">
            <a:solidFill>
              <a:srgbClr val="3A3C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" y="5303012"/>
            <a:ext cx="30815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86384" y="5613908"/>
            <a:ext cx="308152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for reviews, results and analytics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88536" y="5174996"/>
            <a:ext cx="3520440" cy="1042416"/>
          </a:xfrm>
          <a:prstGeom prst="roundRect">
            <a:avLst>
              <a:gd name="adj" fmla="val 7895"/>
            </a:avLst>
          </a:prstGeom>
          <a:solidFill>
            <a:srgbClr val="232551"/>
          </a:solidFill>
          <a:ln w="12700">
            <a:solidFill>
              <a:srgbClr val="3A3C7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07992" y="5303012"/>
            <a:ext cx="30815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507992" y="5613908"/>
            <a:ext cx="308152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 cache and task queue backing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010144" y="5174996"/>
            <a:ext cx="3520440" cy="1042416"/>
          </a:xfrm>
          <a:prstGeom prst="roundRect">
            <a:avLst>
              <a:gd name="adj" fmla="val 7895"/>
            </a:avLst>
          </a:prstGeom>
          <a:solidFill>
            <a:srgbClr val="232551"/>
          </a:solidFill>
          <a:ln w="12700">
            <a:solidFill>
              <a:srgbClr val="3A3C7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0" y="5303012"/>
            <a:ext cx="30815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29600" y="5613908"/>
            <a:ext cx="308152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workers for batch CSV processing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66928" y="438912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b="1" dirty="0">
                <a:solidFill>
                  <a:srgbClr val="AAADD4"/>
                </a:solidFill>
                <a:latin typeface="Calibri"/>
              </a:rPr>
              <a:t>14 · IMPLEMENTATION: LIVE EMOTION ANALYSIS</a:t>
            </a:r>
            <a:endParaRPr lang="en-US" sz="1400" b="1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585216" y="914400"/>
            <a:ext cx="101498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800" b="0" dirty="0">
                <a:solidFill>
                  <a:srgbClr val="FFFFFF"/>
                </a:solidFill>
                <a:latin typeface="Calibri"/>
              </a:rPr>
              <a:t>Single-review analysis with 28-label output, sentence scoring and business bucket</a:t>
            </a:r>
            <a:endParaRPr lang="en-US" sz="18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PageNum"/>
          <p:cNvSpPr>
            <a:spLocks noGrp="1"/>
          </p:cNvSpPr>
          <p:nvPr/>
        </p:nvSpPr>
        <p:spPr>
          <a:xfrm>
            <a:off x="11073384" y="63276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000" b="0" dirty="0">
                <a:solidFill>
                  <a:srgbClr val="AAADD4"/>
                </a:solidFill>
                <a:latin typeface="Calibri"/>
              </a:rPr>
              <a:t>16</a:t>
            </a:r>
            <a:endParaRPr lang="en-US" sz="10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5" name="InfoBox"/>
          <p:cNvSpPr>
            <a:spLocks noGrp="1"/>
          </p:cNvSpPr>
          <p:nvPr/>
        </p:nvSpPr>
        <p:spPr>
          <a:xfrm>
            <a:off x="457200" y="1463040"/>
            <a:ext cx="3474720" cy="4297680"/>
          </a:xfrm>
          <a:prstGeom prst="rect">
            <a:avLst/>
          </a:prstGeom>
          <a:solidFill>
            <a:srgbClr val="3A3C7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InputTitle"/>
          <p:cNvSpPr>
            <a:spLocks noGrp="1"/>
          </p:cNvSpPr>
          <p:nvPr/>
        </p:nvSpPr>
        <p:spPr>
          <a:xfrm>
            <a:off x="548640" y="1554480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200" b="1" dirty="0">
                <a:solidFill>
                  <a:srgbClr val="5FD3C4"/>
                </a:solidFill>
                <a:latin typeface="Calibri"/>
              </a:rPr>
              <a:t>TEST ENTRY USED</a:t>
            </a:r>
            <a:endParaRPr lang="en-US" sz="12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7" name="TestDetails"/>
          <p:cNvSpPr>
            <a:spLocks noGrp="1"/>
          </p:cNvSpPr>
          <p:nvPr/>
        </p:nvSpPr>
        <p:spPr>
          <a:xfrm>
            <a:off x="594360" y="1920240"/>
            <a:ext cx="3246120" cy="36576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Product: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SonicWave Pro ANC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 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Star Rating: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**** (4/5)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 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Headline: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Amazing sound quality but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slightly uncomfortable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 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Review: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"The noise cancellation is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incredible and the sound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quality blew me away.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However, after wearing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them for 2 hours, my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ears start to ache."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 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Model Output: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Top Emotion: Disgust 30.2%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Bucket: Frustration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Also: Annoyance,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Disappointment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</p:txBody>
      </p:sp>
      <p:pic>
        <p:nvPicPr>
          <p:cNvPr id="8" name="Screenshot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1417320"/>
            <a:ext cx="3749039" cy="2514600"/>
          </a:xfrm>
          <a:prstGeom prst="rect">
            <a:avLst/>
          </a:prstGeom>
        </p:spPr>
      </p:pic>
      <p:sp>
        <p:nvSpPr>
          <p:cNvPr id="9" name="Cap1"/>
          <p:cNvSpPr>
            <a:spLocks noGrp="1"/>
          </p:cNvSpPr>
          <p:nvPr/>
        </p:nvSpPr>
        <p:spPr>
          <a:xfrm>
            <a:off x="4069080" y="3959352"/>
            <a:ext cx="3749039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900" b="0" dirty="0">
                <a:solidFill>
                  <a:srgbClr val="AAADD4"/>
                </a:solidFill>
                <a:latin typeface="Calibri"/>
              </a:rPr>
              <a:t>Live emotion analysis output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</p:txBody>
      </p:sp>
      <p:pic>
        <p:nvPicPr>
          <p:cNvPr id="10" name="Screenshot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417320"/>
            <a:ext cx="3749039" cy="2514600"/>
          </a:xfrm>
          <a:prstGeom prst="rect">
            <a:avLst/>
          </a:prstGeom>
        </p:spPr>
      </p:pic>
      <p:sp>
        <p:nvSpPr>
          <p:cNvPr id="11" name="Cap3"/>
          <p:cNvSpPr>
            <a:spLocks noGrp="1"/>
          </p:cNvSpPr>
          <p:nvPr/>
        </p:nvSpPr>
        <p:spPr>
          <a:xfrm>
            <a:off x="7909560" y="3959352"/>
            <a:ext cx="3749039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900" b="0" dirty="0">
                <a:solidFill>
                  <a:srgbClr val="AAADD4"/>
                </a:solidFill>
                <a:latin typeface="Calibri"/>
              </a:rPr>
              <a:t>All 28 emotion scores (bar chart)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12" name="CapBar"/>
          <p:cNvSpPr>
            <a:spLocks noGrp="1"/>
          </p:cNvSpPr>
          <p:nvPr/>
        </p:nvSpPr>
        <p:spPr>
          <a:xfrm>
            <a:off x="4069080" y="4224528"/>
            <a:ext cx="7589520" cy="1417320"/>
          </a:xfrm>
          <a:prstGeom prst="rect">
            <a:avLst/>
          </a:prstGeom>
          <a:solidFill>
            <a:srgbClr val="1A1E45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KeyFinding"/>
          <p:cNvSpPr>
            <a:spLocks noGrp="1"/>
          </p:cNvSpPr>
          <p:nvPr/>
        </p:nvSpPr>
        <p:spPr>
          <a:xfrm>
            <a:off x="4160520" y="4297680"/>
            <a:ext cx="7406640" cy="126187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Key finding: A single review praising 'amazing sound quality' while mentioning 'slightly uncomfortable' triggers Disgust (30.2%) as the dominant emotion — mapped to the Frustration business bucket. This reflects the mixed-sentiment split: the complaint element outweighs the praise in the model's learned weighting.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66928" y="438912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b="1" dirty="0">
                <a:solidFill>
                  <a:srgbClr val="AAADD4"/>
                </a:solidFill>
                <a:latin typeface="Calibri"/>
              </a:rPr>
              <a:t>13 · PROPOSED MODEL ARCHITECTURE</a:t>
            </a:r>
            <a:endParaRPr lang="en-US" sz="1400" b="1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585216" y="914400"/>
            <a:ext cx="101498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800" b="0" dirty="0">
                <a:solidFill>
                  <a:srgbClr val="FFFFFF"/>
                </a:solidFill>
                <a:latin typeface="Calibri"/>
              </a:rPr>
              <a:t>End-to-end pipeline from raw review to explained business output</a:t>
            </a:r>
            <a:endParaRPr lang="en-US" sz="18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PageNum"/>
          <p:cNvSpPr>
            <a:spLocks noGrp="1"/>
          </p:cNvSpPr>
          <p:nvPr/>
        </p:nvSpPr>
        <p:spPr>
          <a:xfrm>
            <a:off x="11073384" y="63276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000" b="0" dirty="0">
                <a:solidFill>
                  <a:srgbClr val="AAADD4"/>
                </a:solidFill>
                <a:latin typeface="Calibri"/>
              </a:rPr>
              <a:t>15</a:t>
            </a:r>
            <a:endParaRPr lang="en-US" sz="10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5" name="Box0"/>
          <p:cNvSpPr>
            <a:spLocks noGrp="1"/>
          </p:cNvSpPr>
          <p:nvPr/>
        </p:nvSpPr>
        <p:spPr>
          <a:xfrm>
            <a:off x="457200" y="1554480"/>
            <a:ext cx="1920240" cy="1005840"/>
          </a:xfrm>
          <a:prstGeom prst="rect">
            <a:avLst/>
          </a:prstGeom>
          <a:solidFill>
            <a:srgbClr val="232551"/>
          </a:solidFill>
          <a:ln>
            <a:solidFill>
              <a:srgbClr val="5FD3C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Label0"/>
          <p:cNvSpPr>
            <a:spLocks noGrp="1"/>
          </p:cNvSpPr>
          <p:nvPr/>
        </p:nvSpPr>
        <p:spPr>
          <a:xfrm>
            <a:off x="457200" y="16002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5FD3C4"/>
                </a:solidFill>
                <a:latin typeface="Calibri"/>
              </a:rPr>
              <a:t>Input</a:t>
            </a:r>
            <a:endParaRPr lang="en-US" sz="1100" b="1" dirty="0">
              <a:solidFill>
                <a:srgbClr val="5FD3C4"/>
              </a:solidFill>
              <a:latin typeface="Calibri"/>
            </a:endParaRPr>
          </a:p>
          <a:p>
            <a:pPr algn="ctr"/>
            <a:r>
              <a:rPr lang="en-US" sz="1100" b="1" dirty="0">
                <a:solidFill>
                  <a:srgbClr val="5FD3C4"/>
                </a:solidFill>
                <a:latin typeface="Calibri"/>
              </a:rPr>
              <a:t>Review Text</a:t>
            </a:r>
            <a:endParaRPr lang="en-US" sz="11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7" name="Sub0"/>
          <p:cNvSpPr>
            <a:spLocks noGrp="1"/>
          </p:cNvSpPr>
          <p:nvPr/>
        </p:nvSpPr>
        <p:spPr>
          <a:xfrm>
            <a:off x="457200" y="2066543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800" b="0" dirty="0">
                <a:solidFill>
                  <a:srgbClr val="5FD3C4"/>
                </a:solidFill>
                <a:latin typeface="Calibri"/>
              </a:rPr>
              <a:t>Raw product review,</a:t>
            </a:r>
            <a:endParaRPr lang="en-US" sz="800" b="0" dirty="0">
              <a:solidFill>
                <a:srgbClr val="5FD3C4"/>
              </a:solidFill>
              <a:latin typeface="Calibri"/>
            </a:endParaRPr>
          </a:p>
          <a:p>
            <a:pPr algn="ctr"/>
            <a:r>
              <a:rPr lang="en-US" sz="800" b="0" dirty="0">
                <a:solidFill>
                  <a:srgbClr val="5FD3C4"/>
                </a:solidFill>
                <a:latin typeface="Calibri"/>
              </a:rPr>
              <a:t>max 512 chars</a:t>
            </a:r>
            <a:endParaRPr lang="en-US" sz="800" b="0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8" name="Arrow0"/>
          <p:cNvSpPr>
            <a:spLocks noGrp="1"/>
          </p:cNvSpPr>
          <p:nvPr/>
        </p:nvSpPr>
        <p:spPr>
          <a:xfrm>
            <a:off x="2395728" y="1874519"/>
            <a:ext cx="16459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400" b="1" dirty="0">
                <a:solidFill>
                  <a:srgbClr val="5FD3C4"/>
                </a:solidFill>
                <a:latin typeface="Calibri"/>
              </a:rPr>
              <a:t>→</a:t>
            </a:r>
            <a:endParaRPr lang="en-US" sz="14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9" name="Box1"/>
          <p:cNvSpPr>
            <a:spLocks noGrp="1"/>
          </p:cNvSpPr>
          <p:nvPr/>
        </p:nvSpPr>
        <p:spPr>
          <a:xfrm>
            <a:off x="2578608" y="1554480"/>
            <a:ext cx="1920240" cy="1005840"/>
          </a:xfrm>
          <a:prstGeom prst="rect">
            <a:avLst/>
          </a:prstGeom>
          <a:solidFill>
            <a:srgbClr val="3A3C72"/>
          </a:solidFill>
          <a:ln>
            <a:solidFill>
              <a:srgbClr val="5FD3C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Label1"/>
          <p:cNvSpPr>
            <a:spLocks noGrp="1"/>
          </p:cNvSpPr>
          <p:nvPr/>
        </p:nvSpPr>
        <p:spPr>
          <a:xfrm>
            <a:off x="2578608" y="16002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AAADD4"/>
                </a:solidFill>
                <a:latin typeface="Calibri"/>
              </a:rPr>
              <a:t>Text</a:t>
            </a:r>
            <a:endParaRPr lang="en-US" sz="1100" b="1" dirty="0">
              <a:solidFill>
                <a:srgbClr val="AAADD4"/>
              </a:solidFill>
              <a:latin typeface="Calibri"/>
            </a:endParaRPr>
          </a:p>
          <a:p>
            <a:pPr algn="ctr"/>
            <a:r>
              <a:rPr lang="en-US" sz="1100" b="1" dirty="0">
                <a:solidFill>
                  <a:srgbClr val="AAADD4"/>
                </a:solidFill>
                <a:latin typeface="Calibri"/>
              </a:rPr>
              <a:t>Tokenizer</a:t>
            </a:r>
            <a:endParaRPr lang="en-US" sz="1100" b="1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11" name="Sub1"/>
          <p:cNvSpPr>
            <a:spLocks noGrp="1"/>
          </p:cNvSpPr>
          <p:nvPr/>
        </p:nvSpPr>
        <p:spPr>
          <a:xfrm>
            <a:off x="2578608" y="2066543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800" b="0" dirty="0">
                <a:solidFill>
                  <a:srgbClr val="AAADD4"/>
                </a:solidFill>
                <a:latin typeface="Calibri"/>
              </a:rPr>
              <a:t>WordPiece tokenization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  <a:p>
            <a:pPr algn="ctr"/>
            <a:r>
              <a:rPr lang="en-US" sz="800" b="0" dirty="0">
                <a:solidFill>
                  <a:srgbClr val="AAADD4"/>
                </a:solidFill>
                <a:latin typeface="Calibri"/>
              </a:rPr>
              <a:t>max 128 tokens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12" name="Arrow1"/>
          <p:cNvSpPr>
            <a:spLocks noGrp="1"/>
          </p:cNvSpPr>
          <p:nvPr/>
        </p:nvSpPr>
        <p:spPr>
          <a:xfrm>
            <a:off x="4517136" y="1874519"/>
            <a:ext cx="16459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400" b="1" dirty="0">
                <a:solidFill>
                  <a:srgbClr val="5FD3C4"/>
                </a:solidFill>
                <a:latin typeface="Calibri"/>
              </a:rPr>
              <a:t>→</a:t>
            </a:r>
            <a:endParaRPr lang="en-US" sz="14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13" name="Box2"/>
          <p:cNvSpPr>
            <a:spLocks noGrp="1"/>
          </p:cNvSpPr>
          <p:nvPr/>
        </p:nvSpPr>
        <p:spPr>
          <a:xfrm>
            <a:off x="4700016" y="1554480"/>
            <a:ext cx="1920240" cy="1005840"/>
          </a:xfrm>
          <a:prstGeom prst="rect">
            <a:avLst/>
          </a:prstGeom>
          <a:solidFill>
            <a:srgbClr val="4A4C86"/>
          </a:solidFill>
          <a:ln>
            <a:solidFill>
              <a:srgbClr val="5FD3C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Label2"/>
          <p:cNvSpPr>
            <a:spLocks noGrp="1"/>
          </p:cNvSpPr>
          <p:nvPr/>
        </p:nvSpPr>
        <p:spPr>
          <a:xfrm>
            <a:off x="4700016" y="16002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RoBERTa</a:t>
            </a:r>
            <a:endParaRPr lang="en-US" sz="110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Encoder</a:t>
            </a:r>
            <a:endParaRPr lang="en-US" sz="11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Sub2"/>
          <p:cNvSpPr>
            <a:spLocks noGrp="1"/>
          </p:cNvSpPr>
          <p:nvPr/>
        </p:nvSpPr>
        <p:spPr>
          <a:xfrm>
            <a:off x="4700016" y="2066543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800" b="0" dirty="0">
                <a:solidFill>
                  <a:srgbClr val="FFFFFF"/>
                </a:solidFill>
                <a:latin typeface="Calibri"/>
              </a:rPr>
              <a:t>12 transformer layers</a:t>
            </a:r>
            <a:endParaRPr lang="en-US" sz="800" b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en-US" sz="800" b="0" dirty="0">
                <a:solidFill>
                  <a:srgbClr val="FFFFFF"/>
                </a:solidFill>
                <a:latin typeface="Calibri"/>
              </a:rPr>
              <a:t>768-dim hidden (125M)</a:t>
            </a:r>
            <a:endParaRPr lang="en-US" sz="8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Arrow2"/>
          <p:cNvSpPr>
            <a:spLocks noGrp="1"/>
          </p:cNvSpPr>
          <p:nvPr/>
        </p:nvSpPr>
        <p:spPr>
          <a:xfrm>
            <a:off x="6638544" y="1874519"/>
            <a:ext cx="16459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400" b="1" dirty="0">
                <a:solidFill>
                  <a:srgbClr val="5FD3C4"/>
                </a:solidFill>
                <a:latin typeface="Calibri"/>
              </a:rPr>
              <a:t>→</a:t>
            </a:r>
            <a:endParaRPr lang="en-US" sz="14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17" name="Box3"/>
          <p:cNvSpPr>
            <a:spLocks noGrp="1"/>
          </p:cNvSpPr>
          <p:nvPr/>
        </p:nvSpPr>
        <p:spPr>
          <a:xfrm>
            <a:off x="6821424" y="1554480"/>
            <a:ext cx="1920240" cy="1005840"/>
          </a:xfrm>
          <a:prstGeom prst="rect">
            <a:avLst/>
          </a:prstGeom>
          <a:solidFill>
            <a:srgbClr val="4A4C86"/>
          </a:solidFill>
          <a:ln>
            <a:solidFill>
              <a:srgbClr val="5FD3C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Label3"/>
          <p:cNvSpPr>
            <a:spLocks noGrp="1"/>
          </p:cNvSpPr>
          <p:nvPr/>
        </p:nvSpPr>
        <p:spPr>
          <a:xfrm>
            <a:off x="6821424" y="16002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Multi-label</a:t>
            </a:r>
            <a:endParaRPr lang="en-US" sz="110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Classifier</a:t>
            </a:r>
            <a:endParaRPr lang="en-US" sz="11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Sub3"/>
          <p:cNvSpPr>
            <a:spLocks noGrp="1"/>
          </p:cNvSpPr>
          <p:nvPr/>
        </p:nvSpPr>
        <p:spPr>
          <a:xfrm>
            <a:off x="6821424" y="2066543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800" b="0" dirty="0">
                <a:solidFill>
                  <a:srgbClr val="FFFFFF"/>
                </a:solidFill>
                <a:latin typeface="Calibri"/>
              </a:rPr>
              <a:t>28-way sigmoid output</a:t>
            </a:r>
            <a:endParaRPr lang="en-US" sz="800" b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en-US" sz="800" b="0" dirty="0">
                <a:solidFill>
                  <a:srgbClr val="FFFFFF"/>
                </a:solidFill>
                <a:latin typeface="Calibri"/>
              </a:rPr>
              <a:t>BCE loss training</a:t>
            </a:r>
            <a:endParaRPr lang="en-US" sz="8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Arrow3"/>
          <p:cNvSpPr>
            <a:spLocks noGrp="1"/>
          </p:cNvSpPr>
          <p:nvPr/>
        </p:nvSpPr>
        <p:spPr>
          <a:xfrm>
            <a:off x="8759952" y="1874519"/>
            <a:ext cx="16459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400" b="1" dirty="0">
                <a:solidFill>
                  <a:srgbClr val="5FD3C4"/>
                </a:solidFill>
                <a:latin typeface="Calibri"/>
              </a:rPr>
              <a:t>→</a:t>
            </a:r>
            <a:endParaRPr lang="en-US" sz="14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21" name="Box4"/>
          <p:cNvSpPr>
            <a:spLocks noGrp="1"/>
          </p:cNvSpPr>
          <p:nvPr/>
        </p:nvSpPr>
        <p:spPr>
          <a:xfrm>
            <a:off x="8942832" y="1554480"/>
            <a:ext cx="1920240" cy="1005840"/>
          </a:xfrm>
          <a:prstGeom prst="rect">
            <a:avLst/>
          </a:prstGeom>
          <a:solidFill>
            <a:srgbClr val="3A3C72"/>
          </a:solidFill>
          <a:ln>
            <a:solidFill>
              <a:srgbClr val="5FD3C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Label4"/>
          <p:cNvSpPr>
            <a:spLocks noGrp="1"/>
          </p:cNvSpPr>
          <p:nvPr/>
        </p:nvSpPr>
        <p:spPr>
          <a:xfrm>
            <a:off x="8942832" y="16002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AAADD4"/>
                </a:solidFill>
                <a:latin typeface="Calibri"/>
              </a:rPr>
              <a:t>Per-label</a:t>
            </a:r>
            <a:endParaRPr lang="en-US" sz="1100" b="1" dirty="0">
              <a:solidFill>
                <a:srgbClr val="AAADD4"/>
              </a:solidFill>
              <a:latin typeface="Calibri"/>
            </a:endParaRPr>
          </a:p>
          <a:p>
            <a:pPr algn="ctr"/>
            <a:r>
              <a:rPr lang="en-US" sz="1100" b="1" dirty="0">
                <a:solidFill>
                  <a:srgbClr val="AAADD4"/>
                </a:solidFill>
                <a:latin typeface="Calibri"/>
              </a:rPr>
              <a:t>Calibration</a:t>
            </a:r>
            <a:endParaRPr lang="en-US" sz="1100" b="1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23" name="Sub4"/>
          <p:cNvSpPr>
            <a:spLocks noGrp="1"/>
          </p:cNvSpPr>
          <p:nvPr/>
        </p:nvSpPr>
        <p:spPr>
          <a:xfrm>
            <a:off x="8942832" y="2066543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800" b="0" dirty="0">
                <a:solidFill>
                  <a:srgbClr val="AAADD4"/>
                </a:solidFill>
                <a:latin typeface="Calibri"/>
              </a:rPr>
              <a:t>thresholds.json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  <a:p>
            <a:pPr algn="ctr"/>
            <a:r>
              <a:rPr lang="en-US" sz="800" b="0" dirty="0">
                <a:solidFill>
                  <a:srgbClr val="AAADD4"/>
                </a:solidFill>
                <a:latin typeface="Calibri"/>
              </a:rPr>
              <a:t>0.05–0.95 range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24" name="Sep"/>
          <p:cNvSpPr>
            <a:spLocks noGrp="1"/>
          </p:cNvSpPr>
          <p:nvPr/>
        </p:nvSpPr>
        <p:spPr>
          <a:xfrm>
            <a:off x="457200" y="2788920"/>
            <a:ext cx="11247120" cy="36576"/>
          </a:xfrm>
          <a:prstGeom prst="rect">
            <a:avLst/>
          </a:prstGeom>
          <a:solidFill>
            <a:srgbClr val="3A3C7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OutLabel"/>
          <p:cNvSpPr>
            <a:spLocks noGrp="1"/>
          </p:cNvSpPr>
          <p:nvPr/>
        </p:nvSpPr>
        <p:spPr>
          <a:xfrm>
            <a:off x="457200" y="2871216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1" dirty="0">
                <a:solidFill>
                  <a:srgbClr val="AAADD4"/>
                </a:solidFill>
                <a:latin typeface="Calibri"/>
              </a:rPr>
              <a:t>OUTPUT PIPELINE</a:t>
            </a:r>
            <a:endParaRPr lang="en-US" sz="900" b="1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26" name="OutBox0"/>
          <p:cNvSpPr>
            <a:spLocks noGrp="1"/>
          </p:cNvSpPr>
          <p:nvPr/>
        </p:nvSpPr>
        <p:spPr>
          <a:xfrm>
            <a:off x="457200" y="3154680"/>
            <a:ext cx="2560320" cy="1371600"/>
          </a:xfrm>
          <a:prstGeom prst="rect">
            <a:avLst/>
          </a:prstGeom>
          <a:solidFill>
            <a:srgbClr val="3A3C72"/>
          </a:solidFill>
          <a:ln>
            <a:solidFill>
              <a:srgbClr val="17A398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OutLbl0"/>
          <p:cNvSpPr>
            <a:spLocks noGrp="1"/>
          </p:cNvSpPr>
          <p:nvPr/>
        </p:nvSpPr>
        <p:spPr>
          <a:xfrm>
            <a:off x="502920" y="3246120"/>
            <a:ext cx="2468879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Sentence</a:t>
            </a:r>
            <a:endParaRPr lang="en-US" sz="110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Segmenter</a:t>
            </a:r>
            <a:endParaRPr lang="en-US" sz="11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OutDesc0"/>
          <p:cNvSpPr>
            <a:spLocks noGrp="1"/>
          </p:cNvSpPr>
          <p:nvPr/>
        </p:nvSpPr>
        <p:spPr>
          <a:xfrm>
            <a:off x="502920" y="3675888"/>
            <a:ext cx="2468879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900" b="0" dirty="0">
                <a:solidFill>
                  <a:srgbClr val="5FD3C4"/>
                </a:solidFill>
                <a:latin typeface="Calibri"/>
              </a:rPr>
              <a:t>Splits on boundaries</a:t>
            </a:r>
            <a:endParaRPr lang="en-US" sz="900" b="0" dirty="0">
              <a:solidFill>
                <a:srgbClr val="5FD3C4"/>
              </a:solidFill>
              <a:latin typeface="Calibri"/>
            </a:endParaRPr>
          </a:p>
          <a:p>
            <a:pPr algn="ctr"/>
            <a:r>
              <a:rPr lang="en-US" sz="900" b="0" dirty="0">
                <a:solidFill>
                  <a:srgbClr val="5FD3C4"/>
                </a:solidFill>
                <a:latin typeface="Calibri"/>
              </a:rPr>
              <a:t>&amp; connectives ('but', 'however')</a:t>
            </a:r>
            <a:endParaRPr lang="en-US" sz="900" b="0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29" name="OutArrow0"/>
          <p:cNvSpPr>
            <a:spLocks noGrp="1"/>
          </p:cNvSpPr>
          <p:nvPr/>
        </p:nvSpPr>
        <p:spPr>
          <a:xfrm>
            <a:off x="3063239" y="3657600"/>
            <a:ext cx="2011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400" b="1" dirty="0">
                <a:solidFill>
                  <a:srgbClr val="5FD3C4"/>
                </a:solidFill>
                <a:latin typeface="Calibri"/>
              </a:rPr>
              <a:t>→</a:t>
            </a:r>
            <a:endParaRPr lang="en-US" sz="14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30" name="OutBox1"/>
          <p:cNvSpPr>
            <a:spLocks noGrp="1"/>
          </p:cNvSpPr>
          <p:nvPr/>
        </p:nvSpPr>
        <p:spPr>
          <a:xfrm>
            <a:off x="3337560" y="3154680"/>
            <a:ext cx="2560320" cy="1371600"/>
          </a:xfrm>
          <a:prstGeom prst="rect">
            <a:avLst/>
          </a:prstGeom>
          <a:solidFill>
            <a:srgbClr val="3A307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OutLbl1"/>
          <p:cNvSpPr>
            <a:spLocks noGrp="1"/>
          </p:cNvSpPr>
          <p:nvPr/>
        </p:nvSpPr>
        <p:spPr>
          <a:xfrm>
            <a:off x="3383279" y="3246120"/>
            <a:ext cx="2468879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SHAP Token</a:t>
            </a:r>
            <a:endParaRPr lang="en-US" sz="110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Attribution</a:t>
            </a:r>
            <a:endParaRPr lang="en-US" sz="11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2" name="OutDesc1"/>
          <p:cNvSpPr>
            <a:spLocks noGrp="1"/>
          </p:cNvSpPr>
          <p:nvPr/>
        </p:nvSpPr>
        <p:spPr>
          <a:xfrm>
            <a:off x="3383279" y="3675888"/>
            <a:ext cx="2468879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900" b="0" dirty="0">
                <a:solidFill>
                  <a:srgbClr val="AAADD4"/>
                </a:solidFill>
                <a:latin typeface="Calibri"/>
              </a:rPr>
              <a:t>Word-level XAI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ctr"/>
            <a:r>
              <a:rPr lang="en-US" sz="900" b="0" dirty="0">
                <a:solidFill>
                  <a:srgbClr val="AAADD4"/>
                </a:solidFill>
                <a:latin typeface="Calibri"/>
              </a:rPr>
              <a:t>Cached in Redis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33" name="OutArrow1"/>
          <p:cNvSpPr>
            <a:spLocks noGrp="1"/>
          </p:cNvSpPr>
          <p:nvPr/>
        </p:nvSpPr>
        <p:spPr>
          <a:xfrm>
            <a:off x="5943599" y="3657600"/>
            <a:ext cx="2011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400" b="1" dirty="0">
                <a:solidFill>
                  <a:srgbClr val="5FD3C4"/>
                </a:solidFill>
                <a:latin typeface="Calibri"/>
              </a:rPr>
              <a:t>→</a:t>
            </a:r>
            <a:endParaRPr lang="en-US" sz="14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34" name="OutBox2"/>
          <p:cNvSpPr>
            <a:spLocks noGrp="1"/>
          </p:cNvSpPr>
          <p:nvPr/>
        </p:nvSpPr>
        <p:spPr>
          <a:xfrm>
            <a:off x="6217920" y="3154680"/>
            <a:ext cx="2560320" cy="1371600"/>
          </a:xfrm>
          <a:prstGeom prst="rect">
            <a:avLst/>
          </a:prstGeom>
          <a:solidFill>
            <a:srgbClr val="4A4C86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OutLbl2"/>
          <p:cNvSpPr>
            <a:spLocks noGrp="1"/>
          </p:cNvSpPr>
          <p:nvPr/>
        </p:nvSpPr>
        <p:spPr>
          <a:xfrm>
            <a:off x="6263640" y="3246120"/>
            <a:ext cx="2468879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Business</a:t>
            </a:r>
            <a:endParaRPr lang="en-US" sz="110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Bucket Map</a:t>
            </a:r>
            <a:endParaRPr lang="en-US" sz="11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6" name="OutDesc2"/>
          <p:cNvSpPr>
            <a:spLocks noGrp="1"/>
          </p:cNvSpPr>
          <p:nvPr/>
        </p:nvSpPr>
        <p:spPr>
          <a:xfrm>
            <a:off x="6263640" y="3675888"/>
            <a:ext cx="2468879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900" b="0" dirty="0">
                <a:solidFill>
                  <a:srgbClr val="FFFFFF"/>
                </a:solidFill>
                <a:latin typeface="Calibri"/>
              </a:rPr>
              <a:t>4 categories:</a:t>
            </a:r>
            <a:endParaRPr lang="en-US" sz="900" b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en-US" sz="900" b="0" dirty="0">
                <a:solidFill>
                  <a:srgbClr val="FFFFFF"/>
                </a:solidFill>
                <a:latin typeface="Calibri"/>
              </a:rPr>
              <a:t>Frustration · Satisfaction</a:t>
            </a:r>
            <a:endParaRPr lang="en-US" sz="900" b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en-US" sz="900" b="0" dirty="0">
                <a:solidFill>
                  <a:srgbClr val="FFFFFF"/>
                </a:solidFill>
                <a:latin typeface="Calibri"/>
              </a:rPr>
              <a:t>Concern · Confusion</a:t>
            </a:r>
            <a:endParaRPr lang="en-US" sz="9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7" name="OutArrow2"/>
          <p:cNvSpPr>
            <a:spLocks noGrp="1"/>
          </p:cNvSpPr>
          <p:nvPr/>
        </p:nvSpPr>
        <p:spPr>
          <a:xfrm>
            <a:off x="8823960" y="3657600"/>
            <a:ext cx="2011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400" b="1" dirty="0">
                <a:solidFill>
                  <a:srgbClr val="5FD3C4"/>
                </a:solidFill>
                <a:latin typeface="Calibri"/>
              </a:rPr>
              <a:t>→</a:t>
            </a:r>
            <a:endParaRPr lang="en-US" sz="14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38" name="OutBox3"/>
          <p:cNvSpPr>
            <a:spLocks noGrp="1"/>
          </p:cNvSpPr>
          <p:nvPr/>
        </p:nvSpPr>
        <p:spPr>
          <a:xfrm>
            <a:off x="9098280" y="3154680"/>
            <a:ext cx="2560320" cy="1371600"/>
          </a:xfrm>
          <a:prstGeom prst="rect">
            <a:avLst/>
          </a:prstGeom>
          <a:solidFill>
            <a:srgbClr val="1A1E45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OutLbl3"/>
          <p:cNvSpPr>
            <a:spLocks noGrp="1"/>
          </p:cNvSpPr>
          <p:nvPr/>
        </p:nvSpPr>
        <p:spPr>
          <a:xfrm>
            <a:off x="9144000" y="3246120"/>
            <a:ext cx="2468879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API</a:t>
            </a:r>
            <a:endParaRPr lang="en-US" sz="110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Response</a:t>
            </a:r>
            <a:endParaRPr lang="en-US" sz="11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" name="OutDesc3"/>
          <p:cNvSpPr>
            <a:spLocks noGrp="1"/>
          </p:cNvSpPr>
          <p:nvPr/>
        </p:nvSpPr>
        <p:spPr>
          <a:xfrm>
            <a:off x="9144000" y="3675888"/>
            <a:ext cx="2468879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900" b="0" dirty="0">
                <a:solidFill>
                  <a:srgbClr val="9BA0CE"/>
                </a:solidFill>
                <a:latin typeface="Calibri"/>
              </a:rPr>
              <a:t>JSON: labels, scores,</a:t>
            </a:r>
            <a:endParaRPr lang="en-US" sz="900" b="0" dirty="0">
              <a:solidFill>
                <a:srgbClr val="9BA0CE"/>
              </a:solidFill>
              <a:latin typeface="Calibri"/>
            </a:endParaRPr>
          </a:p>
          <a:p>
            <a:pPr algn="ctr"/>
            <a:r>
              <a:rPr lang="en-US" sz="900" b="0" dirty="0">
                <a:solidFill>
                  <a:srgbClr val="9BA0CE"/>
                </a:solidFill>
                <a:latin typeface="Calibri"/>
              </a:rPr>
              <a:t>explanations, bucket</a:t>
            </a:r>
            <a:endParaRPr lang="en-US" sz="900" b="0" dirty="0">
              <a:solidFill>
                <a:srgbClr val="9BA0CE"/>
              </a:solidFill>
              <a:latin typeface="Calibri"/>
            </a:endParaRPr>
          </a:p>
        </p:txBody>
      </p:sp>
      <p:sp>
        <p:nvSpPr>
          <p:cNvPr id="41" name="SvcLabel"/>
          <p:cNvSpPr>
            <a:spLocks noGrp="1"/>
          </p:cNvSpPr>
          <p:nvPr/>
        </p:nvSpPr>
        <p:spPr>
          <a:xfrm>
            <a:off x="457200" y="45445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1" dirty="0">
                <a:solidFill>
                  <a:srgbClr val="AAADD4"/>
                </a:solidFill>
                <a:latin typeface="Calibri"/>
              </a:rPr>
              <a:t>SUPPORTING SERVICES</a:t>
            </a:r>
            <a:endParaRPr lang="en-US" sz="900" b="1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42" name="Svc0"/>
          <p:cNvSpPr>
            <a:spLocks noGrp="1"/>
          </p:cNvSpPr>
          <p:nvPr/>
        </p:nvSpPr>
        <p:spPr>
          <a:xfrm>
            <a:off x="457200" y="4800600"/>
            <a:ext cx="2606040" cy="658368"/>
          </a:xfrm>
          <a:prstGeom prst="rect">
            <a:avLst/>
          </a:prstGeom>
          <a:solidFill>
            <a:srgbClr val="3A3C7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3" name="SvcName0"/>
          <p:cNvSpPr>
            <a:spLocks noGrp="1"/>
          </p:cNvSpPr>
          <p:nvPr/>
        </p:nvSpPr>
        <p:spPr>
          <a:xfrm>
            <a:off x="548640" y="48463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000" b="1" dirty="0">
                <a:solidFill>
                  <a:srgbClr val="5FD3C4"/>
                </a:solidFill>
                <a:latin typeface="Calibri"/>
              </a:rPr>
              <a:t>PostgreSQL</a:t>
            </a:r>
            <a:endParaRPr lang="en-US" sz="10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44" name="SvcDesc0"/>
          <p:cNvSpPr>
            <a:spLocks noGrp="1"/>
          </p:cNvSpPr>
          <p:nvPr/>
        </p:nvSpPr>
        <p:spPr>
          <a:xfrm>
            <a:off x="548640" y="512064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800" b="0" dirty="0">
                <a:solidFill>
                  <a:srgbClr val="AAADD4"/>
                </a:solidFill>
                <a:latin typeface="Calibri"/>
              </a:rPr>
              <a:t>Reviews · Analytics · Results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45" name="Svc1"/>
          <p:cNvSpPr>
            <a:spLocks noGrp="1"/>
          </p:cNvSpPr>
          <p:nvPr/>
        </p:nvSpPr>
        <p:spPr>
          <a:xfrm>
            <a:off x="3337560" y="4800600"/>
            <a:ext cx="2606040" cy="658368"/>
          </a:xfrm>
          <a:prstGeom prst="rect">
            <a:avLst/>
          </a:prstGeom>
          <a:solidFill>
            <a:srgbClr val="2D2D6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6" name="SvcName1"/>
          <p:cNvSpPr>
            <a:spLocks noGrp="1"/>
          </p:cNvSpPr>
          <p:nvPr/>
        </p:nvSpPr>
        <p:spPr>
          <a:xfrm>
            <a:off x="3429000" y="48463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000" b="1" dirty="0">
                <a:solidFill>
                  <a:srgbClr val="5FD3C4"/>
                </a:solidFill>
                <a:latin typeface="Calibri"/>
              </a:rPr>
              <a:t>Redis</a:t>
            </a:r>
            <a:endParaRPr lang="en-US" sz="10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47" name="SvcDesc1"/>
          <p:cNvSpPr>
            <a:spLocks noGrp="1"/>
          </p:cNvSpPr>
          <p:nvPr/>
        </p:nvSpPr>
        <p:spPr>
          <a:xfrm>
            <a:off x="3429000" y="512064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800" b="0" dirty="0">
                <a:solidFill>
                  <a:srgbClr val="AAADD4"/>
                </a:solidFill>
                <a:latin typeface="Calibri"/>
              </a:rPr>
              <a:t>SHAP cache · Task queue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48" name="Svc2"/>
          <p:cNvSpPr>
            <a:spLocks noGrp="1"/>
          </p:cNvSpPr>
          <p:nvPr/>
        </p:nvSpPr>
        <p:spPr>
          <a:xfrm>
            <a:off x="6217920" y="4800600"/>
            <a:ext cx="2606040" cy="658368"/>
          </a:xfrm>
          <a:prstGeom prst="rect">
            <a:avLst/>
          </a:prstGeom>
          <a:solidFill>
            <a:srgbClr val="3A3C7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9" name="SvcName2"/>
          <p:cNvSpPr>
            <a:spLocks noGrp="1"/>
          </p:cNvSpPr>
          <p:nvPr/>
        </p:nvSpPr>
        <p:spPr>
          <a:xfrm>
            <a:off x="6309359" y="48463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000" b="1" dirty="0">
                <a:solidFill>
                  <a:srgbClr val="5FD3C4"/>
                </a:solidFill>
                <a:latin typeface="Calibri"/>
              </a:rPr>
              <a:t>Celery Worker</a:t>
            </a:r>
            <a:endParaRPr lang="en-US" sz="10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50" name="SvcDesc2"/>
          <p:cNvSpPr>
            <a:spLocks noGrp="1"/>
          </p:cNvSpPr>
          <p:nvPr/>
        </p:nvSpPr>
        <p:spPr>
          <a:xfrm>
            <a:off x="6309359" y="512064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800" b="0" dirty="0">
                <a:solidFill>
                  <a:srgbClr val="AAADD4"/>
                </a:solidFill>
                <a:latin typeface="Calibri"/>
              </a:rPr>
              <a:t>Async batch CSV processing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51" name="Svc3"/>
          <p:cNvSpPr>
            <a:spLocks noGrp="1"/>
          </p:cNvSpPr>
          <p:nvPr/>
        </p:nvSpPr>
        <p:spPr>
          <a:xfrm>
            <a:off x="9098280" y="4800600"/>
            <a:ext cx="2606040" cy="658368"/>
          </a:xfrm>
          <a:prstGeom prst="rect">
            <a:avLst/>
          </a:prstGeom>
          <a:solidFill>
            <a:srgbClr val="2D2D6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2" name="SvcName3"/>
          <p:cNvSpPr>
            <a:spLocks noGrp="1"/>
          </p:cNvSpPr>
          <p:nvPr/>
        </p:nvSpPr>
        <p:spPr>
          <a:xfrm>
            <a:off x="9189719" y="48463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000" b="1" dirty="0">
                <a:solidFill>
                  <a:srgbClr val="5FD3C4"/>
                </a:solidFill>
                <a:latin typeface="Calibri"/>
              </a:rPr>
              <a:t>React Frontend</a:t>
            </a:r>
            <a:endParaRPr lang="en-US" sz="10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53" name="SvcDesc3"/>
          <p:cNvSpPr>
            <a:spLocks noGrp="1"/>
          </p:cNvSpPr>
          <p:nvPr/>
        </p:nvSpPr>
        <p:spPr>
          <a:xfrm>
            <a:off x="9189719" y="512064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800" b="0" dirty="0">
                <a:solidFill>
                  <a:srgbClr val="AAADD4"/>
                </a:solidFill>
                <a:latin typeface="Calibri"/>
              </a:rPr>
              <a:t>Analyze · Dashboard · Batch · Model tabs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66928" y="438912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b="1" dirty="0">
                <a:solidFill>
                  <a:srgbClr val="AAADD4"/>
                </a:solidFill>
                <a:latin typeface="Calibri"/>
              </a:rPr>
              <a:t>15 · EXPLAINABILITY: TOKEN ATTRIBUTION (XAI)</a:t>
            </a:r>
            <a:endParaRPr lang="en-US" sz="1400" b="1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585216" y="914400"/>
            <a:ext cx="101498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800" b="0" dirty="0">
                <a:solidFill>
                  <a:srgbClr val="FFFFFF"/>
                </a:solidFill>
                <a:latin typeface="Calibri"/>
              </a:rPr>
              <a:t>SHAP-style token-level explanations showing which words drove each emotion prediction</a:t>
            </a:r>
            <a:endParaRPr lang="en-US" sz="18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PageNum"/>
          <p:cNvSpPr>
            <a:spLocks noGrp="1"/>
          </p:cNvSpPr>
          <p:nvPr/>
        </p:nvSpPr>
        <p:spPr>
          <a:xfrm>
            <a:off x="11073384" y="63276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000" b="0" dirty="0">
                <a:solidFill>
                  <a:srgbClr val="AAADD4"/>
                </a:solidFill>
                <a:latin typeface="Calibri"/>
              </a:rPr>
              <a:t>17</a:t>
            </a:r>
            <a:endParaRPr lang="en-US" sz="1000" b="0" dirty="0">
              <a:solidFill>
                <a:srgbClr val="AAADD4"/>
              </a:solidFill>
              <a:latin typeface="Calibri"/>
            </a:endParaRPr>
          </a:p>
        </p:txBody>
      </p:sp>
      <p:pic>
        <p:nvPicPr>
          <p:cNvPr id="5" name="TokenAtt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029200" cy="3474720"/>
          </a:xfrm>
          <a:prstGeom prst="rect">
            <a:avLst/>
          </a:prstGeom>
        </p:spPr>
      </p:pic>
      <p:sp>
        <p:nvSpPr>
          <p:cNvPr id="6" name="TokenCap"/>
          <p:cNvSpPr>
            <a:spLocks noGrp="1"/>
          </p:cNvSpPr>
          <p:nvPr/>
        </p:nvSpPr>
        <p:spPr>
          <a:xfrm>
            <a:off x="457200" y="491947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000" b="0" dirty="0">
                <a:solidFill>
                  <a:srgbClr val="AAADD4"/>
                </a:solidFill>
                <a:latin typeface="Calibri"/>
              </a:rPr>
              <a:t>Token attribution — why "Disgust" was predicted</a:t>
            </a:r>
            <a:endParaRPr lang="en-US" sz="10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7" name="XAIBox"/>
          <p:cNvSpPr>
            <a:spLocks noGrp="1"/>
          </p:cNvSpPr>
          <p:nvPr/>
        </p:nvSpPr>
        <p:spPr>
          <a:xfrm>
            <a:off x="5669280" y="1417320"/>
            <a:ext cx="5989320" cy="3767328"/>
          </a:xfrm>
          <a:prstGeom prst="rect">
            <a:avLst/>
          </a:prstGeom>
          <a:solidFill>
            <a:srgbClr val="3A3C7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XAITitle"/>
          <p:cNvSpPr>
            <a:spLocks noGrp="1"/>
          </p:cNvSpPr>
          <p:nvPr/>
        </p:nvSpPr>
        <p:spPr>
          <a:xfrm>
            <a:off x="5806440" y="1508760"/>
            <a:ext cx="57607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200" b="1" dirty="0">
                <a:solidFill>
                  <a:srgbClr val="5FD3C4"/>
                </a:solidFill>
                <a:latin typeface="Calibri"/>
              </a:rPr>
              <a:t>EXPLAINABILITY APPROACH</a:t>
            </a:r>
            <a:endParaRPr lang="en-US" sz="12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10" name="XAILbl"/>
          <p:cNvSpPr>
            <a:spLocks noGrp="1"/>
          </p:cNvSpPr>
          <p:nvPr/>
        </p:nvSpPr>
        <p:spPr>
          <a:xfrm>
            <a:off x="5806440" y="1938528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Method:</a:t>
            </a:r>
            <a:endParaRPr lang="en-US" sz="9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XAIText"/>
          <p:cNvSpPr>
            <a:spLocks noGrp="1"/>
          </p:cNvSpPr>
          <p:nvPr/>
        </p:nvSpPr>
        <p:spPr>
          <a:xfrm>
            <a:off x="7178040" y="1938528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LIME / SHAP-style token attributions — computed using input perturbation over the RoBERTa encoder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12" name="XAILbl"/>
          <p:cNvSpPr>
            <a:spLocks noGrp="1"/>
          </p:cNvSpPr>
          <p:nvPr/>
        </p:nvSpPr>
        <p:spPr>
          <a:xfrm>
            <a:off x="5806440" y="2441448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What it shows:</a:t>
            </a:r>
            <a:endParaRPr lang="en-US" sz="9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XAIText"/>
          <p:cNvSpPr>
            <a:spLocks noGrp="1"/>
          </p:cNvSpPr>
          <p:nvPr/>
        </p:nvSpPr>
        <p:spPr>
          <a:xfrm>
            <a:off x="7178040" y="2441448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Which tokens most strongly increase or decrease each predicted emotion score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4" name="XAILbl"/>
          <p:cNvSpPr>
            <a:spLocks noGrp="1"/>
          </p:cNvSpPr>
          <p:nvPr/>
        </p:nvSpPr>
        <p:spPr>
          <a:xfrm>
            <a:off x="5806440" y="2944368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Observed output:</a:t>
            </a:r>
            <a:endParaRPr lang="en-US" sz="9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XAIText"/>
          <p:cNvSpPr>
            <a:spLocks noGrp="1"/>
          </p:cNvSpPr>
          <p:nvPr/>
        </p:nvSpPr>
        <p:spPr>
          <a:xfrm>
            <a:off x="7178040" y="2944368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"but" (light) → "slightly" (orange) → "uncomfortable" (red highlight) drive Disgust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16" name="XAILbl"/>
          <p:cNvSpPr>
            <a:spLocks noGrp="1"/>
          </p:cNvSpPr>
          <p:nvPr/>
        </p:nvSpPr>
        <p:spPr>
          <a:xfrm>
            <a:off x="5806440" y="3447287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Caching:</a:t>
            </a:r>
            <a:endParaRPr lang="en-US" sz="9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XAIText"/>
          <p:cNvSpPr>
            <a:spLocks noGrp="1"/>
          </p:cNvSpPr>
          <p:nvPr/>
        </p:nvSpPr>
        <p:spPr>
          <a:xfrm>
            <a:off x="7178040" y="3447287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Attributions are stored in Redis; identical reviews skip recomputation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18" name="XAILbl"/>
          <p:cNvSpPr>
            <a:spLocks noGrp="1"/>
          </p:cNvSpPr>
          <p:nvPr/>
        </p:nvSpPr>
        <p:spPr>
          <a:xfrm>
            <a:off x="5806440" y="3950207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API endpoint:</a:t>
            </a:r>
            <a:endParaRPr lang="en-US" sz="9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XAIText"/>
          <p:cNvSpPr>
            <a:spLocks noGrp="1"/>
          </p:cNvSpPr>
          <p:nvPr/>
        </p:nvSpPr>
        <p:spPr>
          <a:xfrm>
            <a:off x="7178040" y="3950207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GET /api/explain/{review_id} — returns per-token weights for each active label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20" name="XAILbl"/>
          <p:cNvSpPr>
            <a:spLocks noGrp="1"/>
          </p:cNvSpPr>
          <p:nvPr/>
        </p:nvSpPr>
        <p:spPr>
          <a:xfrm>
            <a:off x="5806440" y="4453127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Business value:</a:t>
            </a:r>
            <a:endParaRPr lang="en-US" sz="9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XAIText"/>
          <p:cNvSpPr>
            <a:spLocks noGrp="1"/>
          </p:cNvSpPr>
          <p:nvPr/>
        </p:nvSpPr>
        <p:spPr>
          <a:xfrm>
            <a:off x="7178040" y="4453127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Reviewers and product managers can see exactly what language triggered each bucket classification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22" name="BottomBar"/>
          <p:cNvSpPr>
            <a:spLocks noGrp="1"/>
          </p:cNvSpPr>
          <p:nvPr/>
        </p:nvSpPr>
        <p:spPr>
          <a:xfrm>
            <a:off x="457200" y="5230368"/>
            <a:ext cx="11155680" cy="731520"/>
          </a:xfrm>
          <a:prstGeom prst="rect">
            <a:avLst/>
          </a:prstGeom>
          <a:solidFill>
            <a:srgbClr val="1A1E45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BottomText"/>
          <p:cNvSpPr>
            <a:spLocks noGrp="1"/>
          </p:cNvSpPr>
          <p:nvPr/>
        </p:nvSpPr>
        <p:spPr>
          <a:xfrm>
            <a:off x="548640" y="5285232"/>
            <a:ext cx="10972800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XAI FINDING: The contrastive connective "but" acts as a signal boundary — tokens after it ("slightly uncomfortable") receive higher attribution weights for negative emotions, validating the segment-aware scoring design.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66928" y="438912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b="1" dirty="0">
                <a:solidFill>
                  <a:srgbClr val="AAADD4"/>
                </a:solidFill>
                <a:latin typeface="Calibri"/>
              </a:rPr>
              <a:t>16 · DASHBOARD: ANALYTICS &amp; TRENDS</a:t>
            </a:r>
            <a:endParaRPr lang="en-US" sz="1400" b="1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585216" y="914400"/>
            <a:ext cx="101498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800" b="0" dirty="0">
                <a:solidFill>
                  <a:srgbClr val="FFFFFF"/>
                </a:solidFill>
                <a:latin typeface="Calibri"/>
              </a:rPr>
              <a:t>Aggregated emotion distributions, business buckets, and time-series trends across 104 reviews</a:t>
            </a:r>
            <a:endParaRPr lang="en-US" sz="18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PageNum"/>
          <p:cNvSpPr>
            <a:spLocks noGrp="1"/>
          </p:cNvSpPr>
          <p:nvPr/>
        </p:nvSpPr>
        <p:spPr>
          <a:xfrm>
            <a:off x="11073384" y="63276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000" b="0" dirty="0">
                <a:solidFill>
                  <a:srgbClr val="AAADD4"/>
                </a:solidFill>
                <a:latin typeface="Calibri"/>
              </a:rPr>
              <a:t>18</a:t>
            </a:r>
            <a:endParaRPr lang="en-US" sz="1000" b="0" dirty="0">
              <a:solidFill>
                <a:srgbClr val="AAADD4"/>
              </a:solidFill>
              <a:latin typeface="Calibri"/>
            </a:endParaRPr>
          </a:p>
        </p:txBody>
      </p:sp>
      <p:pic>
        <p:nvPicPr>
          <p:cNvPr id="5" name="Dash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349240" cy="2926080"/>
          </a:xfrm>
          <a:prstGeom prst="rect">
            <a:avLst/>
          </a:prstGeom>
        </p:spPr>
      </p:pic>
      <p:sp>
        <p:nvSpPr>
          <p:cNvPr id="6" name="DashCap1"/>
          <p:cNvSpPr>
            <a:spLocks noGrp="1"/>
          </p:cNvSpPr>
          <p:nvPr/>
        </p:nvSpPr>
        <p:spPr>
          <a:xfrm>
            <a:off x="457200" y="4370832"/>
            <a:ext cx="5349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900" b="0" dirty="0">
                <a:solidFill>
                  <a:srgbClr val="AAADD4"/>
                </a:solidFill>
                <a:latin typeface="Calibri"/>
              </a:rPr>
              <a:t>Emotion distribution + Business bucket donut (104 reviews)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</p:txBody>
      </p:sp>
      <p:pic>
        <p:nvPicPr>
          <p:cNvPr id="7" name="Dash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715000" cy="2926080"/>
          </a:xfrm>
          <a:prstGeom prst="rect">
            <a:avLst/>
          </a:prstGeom>
        </p:spPr>
      </p:pic>
      <p:sp>
        <p:nvSpPr>
          <p:cNvPr id="8" name="DashCap2"/>
          <p:cNvSpPr>
            <a:spLocks noGrp="1"/>
          </p:cNvSpPr>
          <p:nvPr/>
        </p:nvSpPr>
        <p:spPr>
          <a:xfrm>
            <a:off x="5943600" y="4370832"/>
            <a:ext cx="5715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900" b="0" dirty="0">
                <a:solidFill>
                  <a:srgbClr val="AAADD4"/>
                </a:solidFill>
                <a:latin typeface="Calibri"/>
              </a:rPr>
              <a:t>Trends over time (Jan–Aug 2026) + Recent reviews table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9" name="MetricsBar"/>
          <p:cNvSpPr>
            <a:spLocks noGrp="1"/>
          </p:cNvSpPr>
          <p:nvPr/>
        </p:nvSpPr>
        <p:spPr>
          <a:xfrm>
            <a:off x="457200" y="4681728"/>
            <a:ext cx="11155680" cy="1444752"/>
          </a:xfrm>
          <a:prstGeom prst="rect">
            <a:avLst/>
          </a:prstGeom>
          <a:solidFill>
            <a:srgbClr val="3A3C7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MVal0"/>
          <p:cNvSpPr>
            <a:spLocks noGrp="1"/>
          </p:cNvSpPr>
          <p:nvPr/>
        </p:nvSpPr>
        <p:spPr>
          <a:xfrm>
            <a:off x="685800" y="473659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rgbClr val="5FD3C4"/>
                </a:solidFill>
                <a:latin typeface="Calibri"/>
              </a:rPr>
              <a:t>104</a:t>
            </a:r>
            <a:endParaRPr lang="en-US" sz="16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12" name="MLbl0"/>
          <p:cNvSpPr>
            <a:spLocks noGrp="1"/>
          </p:cNvSpPr>
          <p:nvPr/>
        </p:nvSpPr>
        <p:spPr>
          <a:xfrm>
            <a:off x="685800" y="528523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800" b="0" dirty="0">
                <a:solidFill>
                  <a:srgbClr val="AAADD4"/>
                </a:solidFill>
                <a:latin typeface="Calibri"/>
              </a:rPr>
              <a:t>Reviews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  <a:p>
            <a:pPr algn="ctr"/>
            <a:r>
              <a:rPr lang="en-US" sz="800" b="0" dirty="0">
                <a:solidFill>
                  <a:srgbClr val="AAADD4"/>
                </a:solidFill>
                <a:latin typeface="Calibri"/>
              </a:rPr>
              <a:t>Analyzed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13" name="Div0"/>
          <p:cNvSpPr>
            <a:spLocks noGrp="1"/>
          </p:cNvSpPr>
          <p:nvPr/>
        </p:nvSpPr>
        <p:spPr>
          <a:xfrm>
            <a:off x="2651760" y="4754880"/>
            <a:ext cx="18288" cy="1051560"/>
          </a:xfrm>
          <a:prstGeom prst="rect">
            <a:avLst/>
          </a:prstGeom>
          <a:solidFill>
            <a:srgbClr val="3A3C7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MVal1"/>
          <p:cNvSpPr>
            <a:spLocks noGrp="1"/>
          </p:cNvSpPr>
          <p:nvPr/>
        </p:nvSpPr>
        <p:spPr>
          <a:xfrm>
            <a:off x="2971800" y="473659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rgbClr val="5FD3C4"/>
                </a:solidFill>
                <a:latin typeface="Calibri"/>
              </a:rPr>
              <a:t>28</a:t>
            </a:r>
            <a:endParaRPr lang="en-US" sz="16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15" name="MLbl1"/>
          <p:cNvSpPr>
            <a:spLocks noGrp="1"/>
          </p:cNvSpPr>
          <p:nvPr/>
        </p:nvSpPr>
        <p:spPr>
          <a:xfrm>
            <a:off x="2971800" y="528523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800" b="0" dirty="0">
                <a:solidFill>
                  <a:srgbClr val="AAADD4"/>
                </a:solidFill>
                <a:latin typeface="Calibri"/>
              </a:rPr>
              <a:t>Emotion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  <a:p>
            <a:pPr algn="ctr"/>
            <a:r>
              <a:rPr lang="en-US" sz="800" b="0" dirty="0">
                <a:solidFill>
                  <a:srgbClr val="AAADD4"/>
                </a:solidFill>
                <a:latin typeface="Calibri"/>
              </a:rPr>
              <a:t>Labels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16" name="Div1"/>
          <p:cNvSpPr>
            <a:spLocks noGrp="1"/>
          </p:cNvSpPr>
          <p:nvPr/>
        </p:nvSpPr>
        <p:spPr>
          <a:xfrm>
            <a:off x="4937760" y="4754880"/>
            <a:ext cx="18288" cy="1051560"/>
          </a:xfrm>
          <a:prstGeom prst="rect">
            <a:avLst/>
          </a:prstGeom>
          <a:solidFill>
            <a:srgbClr val="3A3C7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MVal2"/>
          <p:cNvSpPr>
            <a:spLocks noGrp="1"/>
          </p:cNvSpPr>
          <p:nvPr/>
        </p:nvSpPr>
        <p:spPr>
          <a:xfrm>
            <a:off x="5257800" y="473659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rgbClr val="5FD3C4"/>
                </a:solidFill>
                <a:latin typeface="Calibri"/>
              </a:rPr>
              <a:t>Frustration</a:t>
            </a:r>
            <a:endParaRPr lang="en-US" sz="16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18" name="MLbl2"/>
          <p:cNvSpPr>
            <a:spLocks noGrp="1"/>
          </p:cNvSpPr>
          <p:nvPr/>
        </p:nvSpPr>
        <p:spPr>
          <a:xfrm>
            <a:off x="5257800" y="528523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800" b="0" dirty="0">
                <a:solidFill>
                  <a:srgbClr val="AAADD4"/>
                </a:solidFill>
                <a:latin typeface="Calibri"/>
              </a:rPr>
              <a:t>Dominant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  <a:p>
            <a:pPr algn="ctr"/>
            <a:r>
              <a:rPr lang="en-US" sz="800" b="0" dirty="0">
                <a:solidFill>
                  <a:srgbClr val="AAADD4"/>
                </a:solidFill>
                <a:latin typeface="Calibri"/>
              </a:rPr>
              <a:t>Bucket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19" name="Div2"/>
          <p:cNvSpPr>
            <a:spLocks noGrp="1"/>
          </p:cNvSpPr>
          <p:nvPr/>
        </p:nvSpPr>
        <p:spPr>
          <a:xfrm>
            <a:off x="7223760" y="4754880"/>
            <a:ext cx="18288" cy="1051560"/>
          </a:xfrm>
          <a:prstGeom prst="rect">
            <a:avLst/>
          </a:prstGeom>
          <a:solidFill>
            <a:srgbClr val="3A3C7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MVal3"/>
          <p:cNvSpPr>
            <a:spLocks noGrp="1"/>
          </p:cNvSpPr>
          <p:nvPr/>
        </p:nvSpPr>
        <p:spPr>
          <a:xfrm>
            <a:off x="7543800" y="473659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rgbClr val="5FD3C4"/>
                </a:solidFill>
                <a:latin typeface="Calibri"/>
              </a:rPr>
              <a:t>Jan–Aug 2026</a:t>
            </a:r>
            <a:endParaRPr lang="en-US" sz="16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21" name="MLbl3"/>
          <p:cNvSpPr>
            <a:spLocks noGrp="1"/>
          </p:cNvSpPr>
          <p:nvPr/>
        </p:nvSpPr>
        <p:spPr>
          <a:xfrm>
            <a:off x="7543800" y="528523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800" b="0" dirty="0">
                <a:solidFill>
                  <a:srgbClr val="AAADD4"/>
                </a:solidFill>
                <a:latin typeface="Calibri"/>
              </a:rPr>
              <a:t>Trend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  <a:p>
            <a:pPr algn="ctr"/>
            <a:r>
              <a:rPr lang="en-US" sz="800" b="0" dirty="0">
                <a:solidFill>
                  <a:srgbClr val="AAADD4"/>
                </a:solidFill>
                <a:latin typeface="Calibri"/>
              </a:rPr>
              <a:t>Period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22" name="Div3"/>
          <p:cNvSpPr>
            <a:spLocks noGrp="1"/>
          </p:cNvSpPr>
          <p:nvPr/>
        </p:nvSpPr>
        <p:spPr>
          <a:xfrm>
            <a:off x="9509760" y="4754880"/>
            <a:ext cx="18288" cy="1051560"/>
          </a:xfrm>
          <a:prstGeom prst="rect">
            <a:avLst/>
          </a:prstGeom>
          <a:solidFill>
            <a:srgbClr val="3A3C7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MVal4"/>
          <p:cNvSpPr>
            <a:spLocks noGrp="1"/>
          </p:cNvSpPr>
          <p:nvPr/>
        </p:nvSpPr>
        <p:spPr>
          <a:xfrm>
            <a:off x="9829800" y="473659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rgbClr val="5FD3C4"/>
                </a:solidFill>
                <a:latin typeface="Calibri"/>
              </a:rPr>
              <a:t>PostgreSQL</a:t>
            </a:r>
            <a:endParaRPr lang="en-US" sz="16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24" name="MLbl4"/>
          <p:cNvSpPr>
            <a:spLocks noGrp="1"/>
          </p:cNvSpPr>
          <p:nvPr/>
        </p:nvSpPr>
        <p:spPr>
          <a:xfrm>
            <a:off x="9829800" y="528523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800" b="0" dirty="0">
                <a:solidFill>
                  <a:srgbClr val="AAADD4"/>
                </a:solidFill>
                <a:latin typeface="Calibri"/>
              </a:rPr>
              <a:t>Persistent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  <a:p>
            <a:pPr algn="ctr"/>
            <a:r>
              <a:rPr lang="en-US" sz="800" b="0" dirty="0">
                <a:solidFill>
                  <a:srgbClr val="AAADD4"/>
                </a:solidFill>
                <a:latin typeface="Calibri"/>
              </a:rPr>
              <a:t>Storage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66928" y="438912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b="1" dirty="0">
                <a:solidFill>
                  <a:srgbClr val="AAADD4"/>
                </a:solidFill>
                <a:latin typeface="Calibri"/>
              </a:rPr>
              <a:t>17 · BATCH PROCESSING &amp; MODEL PERFORMANCE</a:t>
            </a:r>
            <a:endParaRPr lang="en-US" sz="1400" b="1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585216" y="914400"/>
            <a:ext cx="101498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800" b="0" dirty="0">
                <a:solidFill>
                  <a:srgbClr val="FFFFFF"/>
                </a:solidFill>
                <a:latin typeface="Calibri"/>
              </a:rPr>
              <a:t>Async CSV batch ingestion via Celery + model-v1 metrics: Macro F1 0.4747, Micro F1 0.5997</a:t>
            </a:r>
            <a:endParaRPr lang="en-US" sz="18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PageNum"/>
          <p:cNvSpPr>
            <a:spLocks noGrp="1"/>
          </p:cNvSpPr>
          <p:nvPr/>
        </p:nvSpPr>
        <p:spPr>
          <a:xfrm>
            <a:off x="11073384" y="63276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000" b="0" dirty="0">
                <a:solidFill>
                  <a:srgbClr val="AAADD4"/>
                </a:solidFill>
                <a:latin typeface="Calibri"/>
              </a:rPr>
              <a:t>19</a:t>
            </a:r>
            <a:endParaRPr lang="en-US" sz="10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5" name="BatchTitle"/>
          <p:cNvSpPr>
            <a:spLocks noGrp="1"/>
          </p:cNvSpPr>
          <p:nvPr/>
        </p:nvSpPr>
        <p:spPr>
          <a:xfrm>
            <a:off x="457200" y="141732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000" b="1" dirty="0">
                <a:solidFill>
                  <a:srgbClr val="5FD3C4"/>
                </a:solidFill>
                <a:latin typeface="Calibri"/>
              </a:rPr>
              <a:t>BATCH PROCESSING</a:t>
            </a:r>
            <a:endParaRPr lang="en-US" sz="1000" b="1" dirty="0">
              <a:solidFill>
                <a:srgbClr val="5FD3C4"/>
              </a:solidFill>
              <a:latin typeface="Calibri"/>
            </a:endParaRPr>
          </a:p>
        </p:txBody>
      </p:sp>
      <p:pic>
        <p:nvPicPr>
          <p:cNvPr id="6" name="BatchIm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19072"/>
            <a:ext cx="5212080" cy="2926080"/>
          </a:xfrm>
          <a:prstGeom prst="rect">
            <a:avLst/>
          </a:prstGeom>
        </p:spPr>
      </p:pic>
      <p:sp>
        <p:nvSpPr>
          <p:cNvPr id="7" name="BatchDesc"/>
          <p:cNvSpPr>
            <a:spLocks noGrp="1"/>
          </p:cNvSpPr>
          <p:nvPr/>
        </p:nvSpPr>
        <p:spPr>
          <a:xfrm>
            <a:off x="457200" y="4663440"/>
            <a:ext cx="5212080" cy="1417320"/>
          </a:xfrm>
          <a:prstGeom prst="rect">
            <a:avLst/>
          </a:prstGeom>
          <a:solidFill>
            <a:srgbClr val="3A3C7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BatchDescTxt"/>
          <p:cNvSpPr>
            <a:spLocks noGrp="1"/>
          </p:cNvSpPr>
          <p:nvPr/>
        </p:nvSpPr>
        <p:spPr>
          <a:xfrm>
            <a:off x="548640" y="4736592"/>
            <a:ext cx="5029200" cy="126187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Accepts CSV with columns: review_id, product_id,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review_text, star_rating, review_date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 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Processing: Celery async worker · Redis task queue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Results stored in PostgreSQL for dashboard analytics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9" name="ModelTitle"/>
          <p:cNvSpPr>
            <a:spLocks noGrp="1"/>
          </p:cNvSpPr>
          <p:nvPr/>
        </p:nvSpPr>
        <p:spPr>
          <a:xfrm>
            <a:off x="5943600" y="141732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000" b="1" dirty="0">
                <a:solidFill>
                  <a:srgbClr val="5FD3C4"/>
                </a:solidFill>
                <a:latin typeface="Calibri"/>
              </a:rPr>
              <a:t>MODEL PERFORMANCE</a:t>
            </a:r>
            <a:endParaRPr lang="en-US" sz="1000" b="1" dirty="0">
              <a:solidFill>
                <a:srgbClr val="5FD3C4"/>
              </a:solidFill>
              <a:latin typeface="Calibri"/>
            </a:endParaRPr>
          </a:p>
        </p:txBody>
      </p:sp>
      <p:pic>
        <p:nvPicPr>
          <p:cNvPr id="10" name="Model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19072"/>
            <a:ext cx="5669280" cy="2926080"/>
          </a:xfrm>
          <a:prstGeom prst="rect">
            <a:avLst/>
          </a:prstGeom>
        </p:spPr>
      </p:pic>
      <p:sp>
        <p:nvSpPr>
          <p:cNvPr id="11" name="ModelBox"/>
          <p:cNvSpPr>
            <a:spLocks noGrp="1"/>
          </p:cNvSpPr>
          <p:nvPr/>
        </p:nvSpPr>
        <p:spPr>
          <a:xfrm>
            <a:off x="5943600" y="4663440"/>
            <a:ext cx="5669280" cy="1417320"/>
          </a:xfrm>
          <a:prstGeom prst="rect">
            <a:avLst/>
          </a:prstGeom>
          <a:solidFill>
            <a:srgbClr val="3A3C7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MLabel"/>
          <p:cNvSpPr>
            <a:spLocks noGrp="1"/>
          </p:cNvSpPr>
          <p:nvPr/>
        </p:nvSpPr>
        <p:spPr>
          <a:xfrm>
            <a:off x="6035040" y="473659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1" dirty="0">
                <a:solidFill>
                  <a:srgbClr val="AAADD4"/>
                </a:solidFill>
                <a:latin typeface="Calibri"/>
              </a:rPr>
              <a:t>Model Version:</a:t>
            </a:r>
            <a:endParaRPr lang="en-US" sz="900" b="1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4" name="MVal"/>
          <p:cNvSpPr>
            <a:spLocks noGrp="1"/>
          </p:cNvSpPr>
          <p:nvPr/>
        </p:nvSpPr>
        <p:spPr>
          <a:xfrm>
            <a:off x="8046720" y="4736592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dirty="0">
                <a:solidFill>
                  <a:srgbClr val="FFFFFF"/>
                </a:solidFill>
                <a:latin typeface="Calibri"/>
              </a:rPr>
              <a:t>model-v1</a:t>
            </a:r>
            <a:endParaRPr lang="en-US" sz="9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MLabel"/>
          <p:cNvSpPr>
            <a:spLocks noGrp="1"/>
          </p:cNvSpPr>
          <p:nvPr/>
        </p:nvSpPr>
        <p:spPr>
          <a:xfrm>
            <a:off x="6035040" y="4992624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1" dirty="0">
                <a:solidFill>
                  <a:srgbClr val="AAADD4"/>
                </a:solidFill>
                <a:latin typeface="Calibri"/>
              </a:rPr>
              <a:t>Macro F1:</a:t>
            </a:r>
            <a:endParaRPr lang="en-US" sz="900" b="1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16" name="MVal"/>
          <p:cNvSpPr>
            <a:spLocks noGrp="1"/>
          </p:cNvSpPr>
          <p:nvPr/>
        </p:nvSpPr>
        <p:spPr>
          <a:xfrm>
            <a:off x="8046720" y="4992624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dirty="0">
                <a:solidFill>
                  <a:srgbClr val="5FD3C4"/>
                </a:solidFill>
                <a:latin typeface="Calibri"/>
              </a:rPr>
              <a:t>0.4747</a:t>
            </a:r>
            <a:endParaRPr lang="en-US" sz="900" b="0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17" name="MLabel"/>
          <p:cNvSpPr>
            <a:spLocks noGrp="1"/>
          </p:cNvSpPr>
          <p:nvPr/>
        </p:nvSpPr>
        <p:spPr>
          <a:xfrm>
            <a:off x="6035040" y="5248656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1" dirty="0">
                <a:solidFill>
                  <a:srgbClr val="AAADD4"/>
                </a:solidFill>
                <a:latin typeface="Calibri"/>
              </a:rPr>
              <a:t>Micro F1:</a:t>
            </a:r>
            <a:endParaRPr lang="en-US" sz="900" b="1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18" name="MVal"/>
          <p:cNvSpPr>
            <a:spLocks noGrp="1"/>
          </p:cNvSpPr>
          <p:nvPr/>
        </p:nvSpPr>
        <p:spPr>
          <a:xfrm>
            <a:off x="8046720" y="5248656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dirty="0">
                <a:solidFill>
                  <a:srgbClr val="5FD3C4"/>
                </a:solidFill>
                <a:latin typeface="Calibri"/>
              </a:rPr>
              <a:t>0.5997</a:t>
            </a:r>
            <a:endParaRPr lang="en-US" sz="900" b="0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19" name="MLabel"/>
          <p:cNvSpPr>
            <a:spLocks noGrp="1"/>
          </p:cNvSpPr>
          <p:nvPr/>
        </p:nvSpPr>
        <p:spPr>
          <a:xfrm>
            <a:off x="6035040" y="550468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1" dirty="0">
                <a:solidFill>
                  <a:srgbClr val="AAADD4"/>
                </a:solidFill>
                <a:latin typeface="Calibri"/>
              </a:rPr>
              <a:t>Base Model:</a:t>
            </a:r>
            <a:endParaRPr lang="en-US" sz="900" b="1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20" name="MVal"/>
          <p:cNvSpPr>
            <a:spLocks noGrp="1"/>
          </p:cNvSpPr>
          <p:nvPr/>
        </p:nvSpPr>
        <p:spPr>
          <a:xfrm>
            <a:off x="8046720" y="5504688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dirty="0">
                <a:solidFill>
                  <a:srgbClr val="9BA0CE"/>
                </a:solidFill>
                <a:latin typeface="Calibri"/>
              </a:rPr>
              <a:t>RoBERTa-base (125M)</a:t>
            </a:r>
            <a:endParaRPr lang="en-US" sz="900" b="0" dirty="0">
              <a:solidFill>
                <a:srgbClr val="9BA0CE"/>
              </a:solidFill>
              <a:latin typeface="Calibri"/>
            </a:endParaRPr>
          </a:p>
        </p:txBody>
      </p:sp>
      <p:sp>
        <p:nvSpPr>
          <p:cNvPr id="21" name="MLabel"/>
          <p:cNvSpPr>
            <a:spLocks noGrp="1"/>
          </p:cNvSpPr>
          <p:nvPr/>
        </p:nvSpPr>
        <p:spPr>
          <a:xfrm>
            <a:off x="6035040" y="576072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1" dirty="0">
                <a:solidFill>
                  <a:srgbClr val="AAADD4"/>
                </a:solidFill>
                <a:latin typeface="Calibri"/>
              </a:rPr>
              <a:t>Training Data:</a:t>
            </a:r>
            <a:endParaRPr lang="en-US" sz="900" b="1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22" name="MVal"/>
          <p:cNvSpPr>
            <a:spLocks noGrp="1"/>
          </p:cNvSpPr>
          <p:nvPr/>
        </p:nvSpPr>
        <p:spPr>
          <a:xfrm>
            <a:off x="8046720" y="576072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dirty="0">
                <a:solidFill>
                  <a:srgbClr val="9BA0CE"/>
                </a:solidFill>
                <a:latin typeface="Calibri"/>
              </a:rPr>
              <a:t>GoEmotions (58k Reddit)</a:t>
            </a:r>
            <a:endParaRPr lang="en-US" sz="900" b="0" dirty="0">
              <a:solidFill>
                <a:srgbClr val="9BA0C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PROJECT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people behind the build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members · Applied Machine Learning for Text Analysis (24ALT3101).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1765" y="-249555"/>
            <a:ext cx="2589530" cy="185864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7055" y="2011680"/>
            <a:ext cx="2538730" cy="2755265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50570" y="2218690"/>
            <a:ext cx="782955" cy="798830"/>
          </a:xfrm>
          <a:prstGeom prst="ellipse">
            <a:avLst/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0570" y="2200910"/>
            <a:ext cx="782955" cy="798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</a:t>
            </a:r>
            <a:endParaRPr lang="en-US" sz="2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04672" y="3137535"/>
            <a:ext cx="211455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Pujith Krishna Soma</a:t>
            </a:r>
            <a:endParaRPr lang="en-US" sz="1600" b="1" dirty="0">
              <a:solidFill>
                <a:srgbClr val="22243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04672" y="3962400"/>
            <a:ext cx="211455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 2420090069</a:t>
            </a:r>
            <a:endParaRPr lang="en-US" sz="1600" dirty="0">
              <a:solidFill>
                <a:srgbClr val="6A6C8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358134" y="2011680"/>
            <a:ext cx="2590038" cy="2743200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42030" y="2218690"/>
            <a:ext cx="782955" cy="798830"/>
          </a:xfrm>
          <a:prstGeom prst="ellipse">
            <a:avLst/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42030" y="2200910"/>
            <a:ext cx="782955" cy="798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555873" y="3110865"/>
            <a:ext cx="211455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Sriram</a:t>
            </a:r>
            <a:endParaRPr lang="en-US" b="1" dirty="0">
              <a:solidFill>
                <a:srgbClr val="22243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595878" y="3962400"/>
            <a:ext cx="211455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 2420090106</a:t>
            </a:r>
            <a:endParaRPr lang="en-US" sz="1600" dirty="0">
              <a:solidFill>
                <a:srgbClr val="6A6C8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149340" y="2011680"/>
            <a:ext cx="2590038" cy="2743200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32855" y="2218690"/>
            <a:ext cx="782955" cy="798830"/>
          </a:xfrm>
          <a:prstGeom prst="ellipse">
            <a:avLst/>
          </a:prstGeom>
          <a:solidFill>
            <a:srgbClr val="D9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32855" y="2200910"/>
            <a:ext cx="782955" cy="798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2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387084" y="3097530"/>
            <a:ext cx="211455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G Sree Susheel</a:t>
            </a:r>
            <a:endParaRPr lang="en-US" sz="1600" b="1" dirty="0">
              <a:solidFill>
                <a:srgbClr val="22243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387084" y="3962400"/>
            <a:ext cx="211455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 2420090124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940546" y="2011680"/>
            <a:ext cx="2590038" cy="2743200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124315" y="2218690"/>
            <a:ext cx="782955" cy="79883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24315" y="2200910"/>
            <a:ext cx="782955" cy="798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</a:t>
            </a:r>
            <a:endParaRPr lang="en-US" sz="2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178290" y="3110865"/>
            <a:ext cx="211455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Yaswanth Chowdary</a:t>
            </a:r>
            <a:endParaRPr lang="en-US" sz="1600" b="1" dirty="0">
              <a:solidFill>
                <a:srgbClr val="22243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9178290" y="3962400"/>
            <a:ext cx="211455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 2420090126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901" name="Shape 37"/>
          <p:cNvSpPr/>
          <p:nvPr/>
        </p:nvSpPr>
        <p:spPr>
          <a:xfrm>
            <a:off x="566928" y="5157216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FDF6E9"/>
          </a:solidFill>
          <a:ln w="9525">
            <a:solidFill>
              <a:srgbClr val="F0DDB8"/>
            </a:solidFill>
            <a:prstDash val="solid"/>
          </a:ln>
        </p:spPr>
      </p:sp>
      <p:sp>
        <p:nvSpPr>
          <p:cNvPr id="902" name="Text 38"/>
          <p:cNvSpPr/>
          <p:nvPr/>
        </p:nvSpPr>
        <p:spPr>
          <a:xfrm>
            <a:off x="804672" y="5157216"/>
            <a:ext cx="67665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 </a:t>
            </a:r>
            <a:r>
              <a:rPr lang="en-US" sz="1150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fine-tuned 28-label model, FastAPI backend, React dashboard, 42-test suite and documented limitations.</a:t>
            </a:r>
            <a:endParaRPr lang="en-US" sz="1150" dirty="0"/>
          </a:p>
        </p:txBody>
      </p:sp>
      <p:sp>
        <p:nvSpPr>
          <p:cNvPr id="903" name="Shape 39"/>
          <p:cNvSpPr/>
          <p:nvPr/>
        </p:nvSpPr>
        <p:spPr>
          <a:xfrm>
            <a:off x="7973568" y="5157216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904" name="Text 40"/>
          <p:cNvSpPr/>
          <p:nvPr/>
        </p:nvSpPr>
        <p:spPr>
          <a:xfrm>
            <a:off x="8174736" y="5157216"/>
            <a:ext cx="32918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Applied Machine Learning for Text Analysis  ·  24ALT3101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66928" y="2340864"/>
            <a:ext cx="1042416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Fine-grained emotion, explained at the token level,</a:t>
            </a:r>
            <a:endParaRPr lang="en-US" sz="3400" dirty="0">
              <a:solidFill>
                <a:schemeClr val="tx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aggregated into decisions.</a:t>
            </a:r>
            <a:endParaRPr lang="en-US" sz="3400" b="1" dirty="0">
              <a:solidFill>
                <a:schemeClr val="tx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" y="4078224"/>
            <a:ext cx="1115568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3970">
            <a:solidFill>
              <a:srgbClr val="17A3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4078224"/>
            <a:ext cx="111556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labels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865376" y="4078224"/>
            <a:ext cx="1481328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3970">
            <a:solidFill>
              <a:srgbClr val="5A4FCF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1"/>
            </p:custDataLst>
          </p:nvPr>
        </p:nvSpPr>
        <p:spPr>
          <a:xfrm>
            <a:off x="1865376" y="4078224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Segment-aware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29584" y="4078224"/>
            <a:ext cx="1572768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3970">
            <a:solidFill>
              <a:srgbClr val="D9922E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2"/>
            </p:custDataLst>
          </p:nvPr>
        </p:nvSpPr>
        <p:spPr>
          <a:xfrm>
            <a:off x="3529584" y="4078224"/>
            <a:ext cx="157276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SHAP-explained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85232" y="4078224"/>
            <a:ext cx="1938528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3970">
            <a:solidFill>
              <a:srgbClr val="E8604C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3"/>
            </p:custDataLst>
          </p:nvPr>
        </p:nvSpPr>
        <p:spPr>
          <a:xfrm>
            <a:off x="5285232" y="4078224"/>
            <a:ext cx="193852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business buckets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5029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</a:t>
            </a:r>
            <a:endParaRPr lang="en-US" sz="16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4"/>
            </p:custDataLst>
          </p:nvPr>
        </p:nvSpPr>
        <p:spPr>
          <a:xfrm>
            <a:off x="566928" y="543153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Text Analysis  ·  24ALT3101</a:t>
            </a:r>
            <a:endParaRPr lang="en-US" sz="115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17" name="Image 0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776970" y="4173220"/>
            <a:ext cx="3086100" cy="229489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NDEX" val="1_1_1"/>
  <p:tag name="KSO_WM_UNIT_TYPE" val="l_h_f"/>
  <p:tag name="KSO_WM_UNIT_SUBTYPE" val="a"/>
  <p:tag name="KSO_WM_TEMPLATE_CATEGORY" val="diagram"/>
  <p:tag name="KSO_WM_TEMPLATE_INDEX" val="19882022"/>
  <p:tag name="KSO_WM_UNIT_ID" val="diagram19882022*l_h_f*1_1_1"/>
  <p:tag name="KSO_WM_DIAGRAM_GROUP_CODE" val="l1-1"/>
  <p:tag name="KSO_WM_TAG_VERSION" val="2.0"/>
  <p:tag name="KSO_WM_BEAUTIFY_FLAG" val="#wm#"/>
</p:tagLst>
</file>

<file path=ppt/tags/tag2.xml><?xml version="1.0" encoding="utf-8"?>
<p:tagLst xmlns:p="http://schemas.openxmlformats.org/presentationml/2006/main">
  <p:tag name="KSO_WM_UNIT_INDEX" val="1_2_1"/>
  <p:tag name="KSO_WM_UNIT_TYPE" val="l_h_f"/>
  <p:tag name="KSO_WM_UNIT_SUBTYPE" val="a"/>
  <p:tag name="KSO_WM_TEMPLATE_CATEGORY" val="diagram"/>
  <p:tag name="KSO_WM_TEMPLATE_INDEX" val="19882022"/>
  <p:tag name="KSO_WM_UNIT_ID" val="diagram19882022*l_h_f*1_2_1"/>
  <p:tag name="KSO_WM_DIAGRAM_GROUP_CODE" val="l1-1"/>
  <p:tag name="KSO_WM_TAG_VERSION" val="2.0"/>
  <p:tag name="KSO_WM_BEAUTIFY_FLAG" val="#wm#"/>
</p:tagLst>
</file>

<file path=ppt/tags/tag3.xml><?xml version="1.0" encoding="utf-8"?>
<p:tagLst xmlns:p="http://schemas.openxmlformats.org/presentationml/2006/main">
  <p:tag name="KSO_WM_UNIT_INDEX" val="1_3_1"/>
  <p:tag name="KSO_WM_UNIT_TYPE" val="l_h_f"/>
  <p:tag name="KSO_WM_UNIT_SUBTYPE" val="a"/>
  <p:tag name="KSO_WM_TEMPLATE_CATEGORY" val="diagram"/>
  <p:tag name="KSO_WM_TEMPLATE_INDEX" val="19882022"/>
  <p:tag name="KSO_WM_UNIT_ID" val="diagram19882022*l_h_f*1_3_1"/>
  <p:tag name="KSO_WM_DIAGRAM_GROUP_CODE" val="l1-1"/>
  <p:tag name="KSO_WM_TAG_VERSION" val="2.0"/>
  <p:tag name="KSO_WM_BEAUTIFY_FLAG" val="#wm#"/>
</p:tagLst>
</file>

<file path=ppt/tags/tag4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5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18006</Words>
  <Application>WPS Docs</Application>
  <PresentationFormat>On-screen Show (16:9)</PresentationFormat>
  <Paragraphs>1030</Paragraphs>
  <Slides>21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0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Cambria</vt:lpstr>
      <vt:lpstr>Cambria</vt:lpstr>
      <vt:lpstr>Cambria</vt:lpstr>
      <vt:lpstr>Futura Medium</vt:lpstr>
      <vt:lpstr>Calibri</vt:lpstr>
      <vt:lpstr>Arial</vt:lpstr>
      <vt:lpstr>苹方-简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Transformer-Based Emotion-Aware Customer Feedback Analysis</dc:title>
  <dc:creator>Pujith</dc:creator>
  <dc:subject>PptxGenJS Presentation</dc:subject>
  <cp:lastModifiedBy>Pujith Soma</cp:lastModifiedBy>
  <cp:revision>9</cp:revision>
  <dcterms:created xsi:type="dcterms:W3CDTF">2026-09-24T05:27:13Z</dcterms:created>
  <dcterms:modified xsi:type="dcterms:W3CDTF">2026-09-24T05:27:13Z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6E6F47F6E35EB765C3EA7B6AE467CE3A_42</vt:lpwstr>
  </property>
  <property fmtid="{D5CDD505-2E9C-101B-9397-08002B2CF9AE}" pid="3" name="KSOProductBuildVer">
    <vt:lpwstr>1033-12.1.28492.28492</vt:lpwstr>
  </property>
</Properties>
</file>