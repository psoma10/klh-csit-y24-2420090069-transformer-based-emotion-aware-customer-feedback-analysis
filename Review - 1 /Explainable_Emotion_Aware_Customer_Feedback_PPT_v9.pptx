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75" r:id="rId7"/>
    <p:sldId id="274" r:id="rId8"/>
    <p:sldId id="261" r:id="rId9"/>
    <p:sldId id="264" r:id="rId10"/>
    <p:sldId id="263" r:id="rId11"/>
    <p:sldId id="265" r:id="rId12"/>
    <p:sldId id="266" r:id="rId13"/>
    <p:sldId id="267" r:id="rId14"/>
    <p:sldId id="268" r:id="rId15"/>
    <p:sldId id="273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buckets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7A398"/>
              </a:solidFill>
              <a:effectLst/>
            </c:spPr>
          </c:dPt>
          <c:dPt>
            <c:idx val="1"/>
            <c:bubble3D val="0"/>
            <c:spPr>
              <a:solidFill>
                <a:srgbClr val="E8604C"/>
              </a:solidFill>
              <a:effectLst/>
            </c:spPr>
          </c:dPt>
          <c:dPt>
            <c:idx val="2"/>
            <c:bubble3D val="0"/>
            <c:spPr>
              <a:solidFill>
                <a:srgbClr val="D9922E"/>
              </a:solidFill>
              <a:effectLst/>
            </c:spPr>
          </c:dPt>
          <c:dPt>
            <c:idx val="3"/>
            <c:bubble3D val="0"/>
            <c:spPr>
              <a:solidFill>
                <a:srgbClr val="5A4FC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Satisfaction</c:v>
                </c:pt>
                <c:pt idx="1">
                  <c:v>Frustration</c:v>
                </c:pt>
                <c:pt idx="2">
                  <c:v>Confusion</c:v>
                </c:pt>
                <c:pt idx="3">
                  <c:v>Concern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b9b3c53-a2a6-4e15-835a-004f52f41bc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Course: Applied Machine Learning for Text Analysis (24ALT3101). The one-line framing: this is a decision-support tool, not a black-box sentiment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example: the review flips at 'but'. Whole-review scoring cancels the two halves out; segment-level scoring keeps both. This example is illustrative, not a model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six aloud. Group them: one and two are the model — a multi-label classifier that is then calibrated per label. Three, four and five are what makes the output usable — clause-level scoring, token-level explanation, business aggregation. Six is delivery. The value of this slide is the second line in each card: every objective has a check that closes it, so 'done' is not a matter of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the survey as two halves. The first three rows are data and task: GoEmotions gives the corpus and the 28-label space, SemEval-2018 establishes multi-label emotion classification as a benchmark task, and CARER and DailyDialog supply auxiliary supervision at a coarser granularity. The last two rows are method: RoBERTa is the encoder, SHAP is the explanation technique. Then land the footer — every column has a 'leaves open' entry, and no single paper closes all of them at once. That combination is the gap, and it leads directly into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covering both the corpora and the differentiation. Read left to right on any row: what the dataset is, when it was published, where the paper lives, what it cannot do, and what our model does about that. The footer carries the model-level differences no corpus supplies at all — tuned thresholds, segment scoring, SHAP evidence and the four business buckets — and the metrics sit inside the published roberta-base band, so the gains come from calibration and system design rather than an inflated accuracy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 get a concrete design response. The fifth — Reddit training data versus product-review inference — is left open deliberately and recorded as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 the right-hand column: label space, granularity, explainability, business framing, system scope. That is the innovation and the novelty claim in five lines. The two most likely to be questioned are per-label thresholds and contrastive segmentation, and both are deliberate design choices rather than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that the doughnut and token strip are UI concepts, not measured results. The point is the presentation layer, not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rests on the fact that nothing here is speculative — every layer names a technology already defined in the architecture, with Docker Compose for local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1-2 are groundwork, 3-4 the model, 5-6 explainability and services, 7-8 the product surface and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acceptance criteria rather than aspirations — each one is checkable at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review through the five stages, then point out that the three supporting services are what make the explanation and batch paths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four team members and their roll numbers, then move straight to the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framing,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arxiv.org/abs/1705.07874" TargetMode="External"/><Relationship Id="rId5" Type="http://schemas.openxmlformats.org/officeDocument/2006/relationships/hyperlink" Target="https://arxiv.org/abs/1907.11692" TargetMode="External"/><Relationship Id="rId4" Type="http://schemas.openxmlformats.org/officeDocument/2006/relationships/hyperlink" Target="https://aclanthology.org/D18-1404/" TargetMode="External"/><Relationship Id="rId3" Type="http://schemas.openxmlformats.org/officeDocument/2006/relationships/hyperlink" Target="https://aclanthology.org/S18-1001/" TargetMode="External"/><Relationship Id="rId2" Type="http://schemas.openxmlformats.org/officeDocument/2006/relationships/hyperlink" Target="https://arxiv.org/abs/2005.00547" TargetMode="Externa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huggingface.co/datasets/fancyzhx/amazon_polarity" TargetMode="External"/><Relationship Id="rId5" Type="http://schemas.openxmlformats.org/officeDocument/2006/relationships/hyperlink" Target="https://arxiv.org/abs/1710.03957" TargetMode="External"/><Relationship Id="rId4" Type="http://schemas.openxmlformats.org/officeDocument/2006/relationships/hyperlink" Target="https://aclanthology.org/S18-1001/" TargetMode="External"/><Relationship Id="rId3" Type="http://schemas.openxmlformats.org/officeDocument/2006/relationships/hyperlink" Target="https://aclanthology.org/D18-1404/" TargetMode="External"/><Relationship Id="rId2" Type="http://schemas.openxmlformats.org/officeDocument/2006/relationships/hyperlink" Target="https://arxiv.org/abs/2005.00547" TargetMode="Externa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920" y="32385"/>
            <a:ext cx="2520315" cy="18751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965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  ·  24ALT3101</a:t>
            </a:r>
            <a:endParaRPr lang="en-US" sz="11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6928" y="2637028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Transformer-Based</a:t>
            </a:r>
            <a:endParaRPr lang="en-US" sz="40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06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Emotion-Aware Customer Feedback Analysis</a:t>
            </a:r>
            <a:endParaRPr lang="en-US" sz="4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734058" y="4846320"/>
            <a:ext cx="1797710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4058" y="4846320"/>
            <a:ext cx="179771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emotion labels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714648" y="4846320"/>
            <a:ext cx="2156155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14648" y="4846320"/>
            <a:ext cx="215615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scoring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684" y="4846320"/>
            <a:ext cx="1797710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684" y="4846320"/>
            <a:ext cx="179771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34274" y="4846320"/>
            <a:ext cx="1887322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34274" y="4846320"/>
            <a:ext cx="18873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buckets</a:t>
            </a:r>
            <a:endParaRPr lang="en-US" sz="1150" dirty="0"/>
          </a:p>
        </p:txBody>
      </p:sp>
      <p:sp>
        <p:nvSpPr>
          <p:cNvPr id="20" name="Text Box 19"/>
          <p:cNvSpPr txBox="1"/>
          <p:nvPr/>
        </p:nvSpPr>
        <p:spPr>
          <a:xfrm>
            <a:off x="3582670" y="5814695"/>
            <a:ext cx="4914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Futura Medium" panose="020B0602020204020303" charset="0"/>
                <a:cs typeface="Futura Medium" panose="020B0602020204020303" charset="0"/>
              </a:rPr>
              <a:t>In the Guidance of </a:t>
            </a:r>
            <a:br>
              <a:rPr lang="en-US">
                <a:latin typeface="Futura Medium" panose="020B0602020204020303" charset="0"/>
                <a:cs typeface="Futura Medium" panose="020B0602020204020303" charset="0"/>
              </a:rPr>
            </a:br>
            <a:r>
              <a:rPr lang="en-US">
                <a:latin typeface="Futura Medium" panose="020B0602020204020303" charset="0"/>
                <a:cs typeface="Futura Medium" panose="020B0602020204020303" charset="0"/>
              </a:rPr>
              <a:t>Dr. KANTANGURI SWANTHANA</a:t>
            </a:r>
            <a:endParaRPr lang="en-US">
              <a:latin typeface="Futura Medium" panose="020B0602020204020303" charset="0"/>
              <a:cs typeface="Futura Medium" panose="020B0602020204020303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94055" y="2573655"/>
            <a:ext cx="7803515" cy="1686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endParaRPr lang="en-US" sz="4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Coarse labels hide what customers actually said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 points in conventional sentiment analysis of customer feedback.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37360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56816"/>
            <a:ext cx="384048" cy="384048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9568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1956816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labels aren't enough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432304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/ neutral never names the emotion behind the feedback.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2871216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" y="3090672"/>
            <a:ext cx="384048" cy="384048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3090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98448" y="3090672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reviews get averaged away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86384" y="3566160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can praise and complain; a single whole-review score erases both.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005072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6384" y="4224528"/>
            <a:ext cx="384048" cy="384048"/>
          </a:xfrm>
          <a:prstGeom prst="ellipse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4224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98448" y="422452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output isn't trusted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86384" y="4700016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cannot see why a prediction was made, so they cannot rely on it.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5138928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5358384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53583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98448" y="5358384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still isn't actionable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86384" y="5833872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28 raw emotion labels need a business translation before anyone acts.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03720" y="1737360"/>
            <a:ext cx="4718304" cy="4370832"/>
          </a:xfrm>
          <a:prstGeom prst="roundRect">
            <a:avLst>
              <a:gd name="adj" fmla="val 188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178040" y="1920240"/>
            <a:ext cx="41696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REVIEW, TWO EMOTIONS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178040" y="2249424"/>
            <a:ext cx="4169664" cy="914400"/>
          </a:xfrm>
          <a:prstGeom prst="roundRect">
            <a:avLst>
              <a:gd name="adj" fmla="val 8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24344" y="2322576"/>
            <a:ext cx="3877056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“Delivery was fast and the packaging was perfect, </a:t>
            </a:r>
            <a:r>
              <a:rPr lang="en-US" sz="1250" b="1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r>
              <a:rPr lang="en-US" sz="1250" i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battery drains within two hours.”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178040" y="334670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178040" y="3566160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admiration · gratitude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10140696" y="3364992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40696" y="336499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178040" y="3877056"/>
            <a:ext cx="4169664" cy="146304"/>
          </a:xfrm>
          <a:prstGeom prst="roundRect">
            <a:avLst>
              <a:gd name="adj" fmla="val 50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78040" y="3877056"/>
            <a:ext cx="3419124" cy="146304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78040" y="43159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178040" y="4535424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· annoyance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10140696" y="433425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140696" y="4334256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178040" y="4846320"/>
            <a:ext cx="4169664" cy="146304"/>
          </a:xfrm>
          <a:prstGeom prst="roundRect">
            <a:avLst>
              <a:gd name="adj" fmla="val 50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78040" y="4846320"/>
            <a:ext cx="3085551" cy="146304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78040" y="5303520"/>
            <a:ext cx="4169664" cy="566928"/>
          </a:xfrm>
          <a:prstGeom prst="roundRect">
            <a:avLst>
              <a:gd name="adj" fmla="val 12903"/>
            </a:avLst>
          </a:prstGeom>
          <a:solidFill>
            <a:srgbClr val="FBEDEA"/>
          </a:solidFill>
          <a:ln w="9525">
            <a:solidFill>
              <a:srgbClr val="F3CEC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06056" y="5303520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E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Whole-review score would read “neutral” — both signals lost.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178040" y="5888736"/>
            <a:ext cx="41696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example.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build, and how we will know it is done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objectives, each with the check that closes it.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93392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multi-label classifier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RoBERTa-base over 27 GoEmotions emotions plus neutral, with BCE loss so co-occurring emotions never compete.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993392"/>
            <a:ext cx="384048" cy="384048"/>
          </a:xfrm>
          <a:prstGeom prst="ellipse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0056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every label separately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07992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 decision threshold per emotion on validation data instead of applying one global 0.5 cutoff to all 28.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10144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0" y="1993392"/>
            <a:ext cx="384048" cy="3840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41664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reviews clause by clause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29600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sentence boundaries and contrastive connectives so praise and complaint in one review stay separate.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4096512"/>
            <a:ext cx="384048" cy="384048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98448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prediction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86384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SHAP token attributions identifying which words pushed each emotion score up or down.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88536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07992" y="4096512"/>
            <a:ext cx="384048" cy="384048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07992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0056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into business terms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4507992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28 labels into satisfaction, frustration, confusion and concern, with neutral reported separately.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10144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29600" y="4096512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741664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system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8229600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a React dashboard, asynchronous batch CSV processing and explicitly documented limitations.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01" name="Text 7"/>
          <p:cNvSpPr/>
          <p:nvPr/>
        </p:nvSpPr>
        <p:spPr>
          <a:xfrm>
            <a:off x="786384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macro and micro F1 are reported on a held-out test split.</a:t>
            </a:r>
            <a:endParaRPr lang="en-US" sz="1200" dirty="0"/>
          </a:p>
        </p:txBody>
      </p:sp>
      <p:sp>
        <p:nvSpPr>
          <p:cNvPr id="802" name="Text 12"/>
          <p:cNvSpPr/>
          <p:nvPr/>
        </p:nvSpPr>
        <p:spPr>
          <a:xfrm>
            <a:off x="4507992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thresholds.json ships inside the model artifact.</a:t>
            </a:r>
            <a:endParaRPr lang="en-US" sz="1200" dirty="0"/>
          </a:p>
        </p:txBody>
      </p:sp>
      <p:sp>
        <p:nvSpPr>
          <p:cNvPr id="803" name="Text 17"/>
          <p:cNvSpPr/>
          <p:nvPr/>
        </p:nvSpPr>
        <p:spPr>
          <a:xfrm>
            <a:off x="8229600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a mixed review returns both verdicts and a mixed flag.</a:t>
            </a:r>
            <a:endParaRPr lang="en-US" sz="1200" dirty="0"/>
          </a:p>
        </p:txBody>
      </p:sp>
      <p:sp>
        <p:nvSpPr>
          <p:cNvPr id="804" name="Text 22"/>
          <p:cNvSpPr/>
          <p:nvPr/>
        </p:nvSpPr>
        <p:spPr>
          <a:xfrm>
            <a:off x="786384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/api/explain returns attributions for any review.</a:t>
            </a:r>
            <a:endParaRPr lang="en-US" sz="1200" dirty="0"/>
          </a:p>
        </p:txBody>
      </p:sp>
      <p:sp>
        <p:nvSpPr>
          <p:cNvPr id="805" name="Text 27"/>
          <p:cNvSpPr/>
          <p:nvPr/>
        </p:nvSpPr>
        <p:spPr>
          <a:xfrm>
            <a:off x="4507992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the dashboard reports four bucket percentages.</a:t>
            </a:r>
            <a:endParaRPr lang="en-US" sz="1200" dirty="0"/>
          </a:p>
        </p:txBody>
      </p:sp>
      <p:sp>
        <p:nvSpPr>
          <p:cNvPr id="806" name="Text 32"/>
          <p:cNvSpPr/>
          <p:nvPr/>
        </p:nvSpPr>
        <p:spPr>
          <a:xfrm>
            <a:off x="8229600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the full stack runs end to end under Docker Compose.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LITERATURE 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363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field established, and what it left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papers in five rows — four supply data and task formulation, two supply method.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755648"/>
            <a:ext cx="19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074128" y="1755648"/>
            <a:ext cx="15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/ YEAR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24128" y="1755648"/>
            <a:ext cx="22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24128" y="1755648"/>
            <a:ext cx="22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WHAT IT LEAVES OPEN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066544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267712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66544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— Demszky et al.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074128" y="2066544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ACL · 2020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24128" y="2066544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58k Reddit comments hand-annotated over 27 emotions plus neutral — the largest fine-grained emotion corpus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24128" y="2066544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domain; one global threshold; whole-comment scoring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2761488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962656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2761488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SemEval-2018 Task 1 — Mohammad et al.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074128" y="2761488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SemEval · 2018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24128" y="2761488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multi-label emotion classification as a shared benchmark with per-label evaluation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24128" y="2761488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Tweet-specific 11-label taxonomy; no explanation component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456432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3657600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3456432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 &amp; DailyDialog — Saravia; Li et al.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074128" y="3456432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EMNLP 2018 · IJCNLP 2017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24128" y="3456432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emotion labelling on tweets and on multi-turn dialogue, over 6 and 7 classes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24128" y="3456432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single-label taxonomies that cannot express co-occurring emotions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151376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6384" y="4352544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4128" y="4151376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Liu et al.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074128" y="4151376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arXiv · 2019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24128" y="4151376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BERT was undertrained; a robust pretraining recipe giving stronger transfer at 125M parameters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124128" y="4151376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backbone — no emotion-specific modelling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" y="4846320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6384" y="5047488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4128" y="4846320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Lundberg &amp; Lee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074128" y="4846320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NeurIPS · 2017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724128" y="4846320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additive feature attribution built on Shapley values; model-agnostic explanations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124128" y="4846320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run offline over samples, not inside a serving path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66928" y="56144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56144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project fills: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work combines fine-grained emotion labels, per-label calibration, segment-level scoring and explanation inside the serving loop.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973568" y="56144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74736" y="56144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access — ACL Anthology, SemEval, NeurIPS and arXiv. Click a venue to open the paper.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1" name="Text 6"/>
          <p:cNvSpPr/>
          <p:nvPr/>
        </p:nvSpPr>
        <p:spPr>
          <a:xfrm>
            <a:off x="9524128" y="1755648"/>
            <a:ext cx="21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WHERE IT ENTERS OUR SYSTEM</a:t>
            </a:r>
            <a:endParaRPr lang="en-US" sz="1000" dirty="0"/>
          </a:p>
        </p:txBody>
      </p:sp>
      <p:sp>
        <p:nvSpPr>
          <p:cNvPr id="952" name="Text 12"/>
          <p:cNvSpPr/>
          <p:nvPr/>
        </p:nvSpPr>
        <p:spPr>
          <a:xfrm>
            <a:off x="9524128" y="2066544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corpus and our 28-label space</a:t>
            </a:r>
            <a:endParaRPr lang="en-US" sz="1150" dirty="0"/>
          </a:p>
        </p:txBody>
      </p:sp>
      <p:sp>
        <p:nvSpPr>
          <p:cNvPr id="953" name="Text 18"/>
          <p:cNvSpPr/>
          <p:nvPr/>
        </p:nvSpPr>
        <p:spPr>
          <a:xfrm>
            <a:off x="9524128" y="2761488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our multi-label BCE setup; its corpus was tested and rejected</a:t>
            </a:r>
            <a:endParaRPr lang="en-US" sz="1150" dirty="0"/>
          </a:p>
        </p:txBody>
      </p:sp>
      <p:sp>
        <p:nvSpPr>
          <p:cNvPr id="954" name="Text 24"/>
          <p:cNvSpPr/>
          <p:nvPr/>
        </p:nvSpPr>
        <p:spPr>
          <a:xfrm>
            <a:off x="9524128" y="3456432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auxiliary corpora, off by default</a:t>
            </a:r>
            <a:endParaRPr lang="en-US" sz="1150" dirty="0"/>
          </a:p>
        </p:txBody>
      </p:sp>
      <p:sp>
        <p:nvSpPr>
          <p:cNvPr id="955" name="Text 30"/>
          <p:cNvSpPr/>
          <p:nvPr/>
        </p:nvSpPr>
        <p:spPr>
          <a:xfrm>
            <a:off x="9524128" y="4151376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we fine-tune with a multi-label head</a:t>
            </a:r>
            <a:endParaRPr lang="en-US" sz="1150" dirty="0"/>
          </a:p>
        </p:txBody>
      </p:sp>
      <p:sp>
        <p:nvSpPr>
          <p:cNvPr id="956" name="Text 36"/>
          <p:cNvSpPr/>
          <p:nvPr/>
        </p:nvSpPr>
        <p:spPr>
          <a:xfrm>
            <a:off x="9524128" y="4846320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 on every prediction, cached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DATASETS &amp;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363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corpus, its limits, and what we changed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corpora considered — one trained on, two held in reserve, one rejected, one never trained on.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755648"/>
            <a:ext cx="19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24128" y="1755648"/>
            <a:ext cx="52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94128" y="1755648"/>
            <a:ext cx="17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SOURCE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44128" y="1755648"/>
            <a:ext cx="28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KEY LIMITATION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066544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267712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66544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24128" y="2066544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94128" y="2066544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arxiv.org/abs/2005.00547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44128" y="2066544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comments, not product reviews; grief, pride and relief have under 20 test examples each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2761488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962656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2761488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dair-ai/emotion (CARER)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124128" y="2761488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94128" y="2761488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aclanthology.org/D18-1404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44128" y="2761488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coarse labels, single-label, drawn from Twitter; no grief, pride or relief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456432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3657600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3456432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SemEval-2018 Task 1 (E-c)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124128" y="3456432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794128" y="3456432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aclanthology.org/S18-1001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644128" y="3456432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only Parquet mirror ships stopword-stripped, case-folded text — an unnatural register for RoBERTa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151376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6384" y="4352544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4128" y="4151376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DailyDialog (roskoN mirror)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124128" y="4151376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794128" y="4151376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arxiv.org/abs/1710.03957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44128" y="4151376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turns rather than reviews; single-label and heavily neutral-skewed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" y="4846320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6384" y="5047488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4128" y="4846320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(amazon_polarity)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124128" y="4846320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794128" y="4846320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huggingface.co/datasets/fancyzhx/amazon_polarity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644128" y="4846320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polarity only — carries no emotion annotation at all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66928" y="56144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56144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corpora: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tuned thresholds, contrastive segment scoring, SHAP token evidence on every prediction and a four-bucket business roll-up — none of which any source corpus supplies.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973568" y="56144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74736" y="56144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model-v1 trains on GoEmotions alone, so the reported metrics stay reproducible from the committed config.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51" name="Text 6"/>
          <p:cNvSpPr/>
          <p:nvPr/>
        </p:nvSpPr>
        <p:spPr>
          <a:xfrm>
            <a:off x="8594128" y="1755648"/>
            <a:ext cx="301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HOW OUR MODEL RESPONDS</a:t>
            </a:r>
            <a:endParaRPr lang="en-US" sz="1000" dirty="0"/>
          </a:p>
        </p:txBody>
      </p:sp>
      <p:sp>
        <p:nvSpPr>
          <p:cNvPr id="952" name="Text 12"/>
          <p:cNvSpPr/>
          <p:nvPr/>
        </p:nvSpPr>
        <p:spPr>
          <a:xfrm>
            <a:off x="8594128" y="2066544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it, then recalibrated — per-label thresholds (0.05–0.95) replace the global 0.5 cutoff</a:t>
            </a:r>
            <a:endParaRPr lang="en-US" sz="1150" dirty="0"/>
          </a:p>
        </p:txBody>
      </p:sp>
      <p:sp>
        <p:nvSpPr>
          <p:cNvPr id="953" name="Text 18"/>
          <p:cNvSpPr/>
          <p:nvPr/>
        </p:nvSpPr>
        <p:spPr>
          <a:xfrm>
            <a:off x="8594128" y="2761488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auxiliary corpus, off by default</a:t>
            </a:r>
            <a:endParaRPr lang="en-US" sz="1150" dirty="0"/>
          </a:p>
        </p:txBody>
      </p:sp>
      <p:sp>
        <p:nvSpPr>
          <p:cNvPr id="954" name="Text 24"/>
          <p:cNvSpPr/>
          <p:nvPr/>
        </p:nvSpPr>
        <p:spPr>
          <a:xfrm>
            <a:off x="8594128" y="3456432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as a third auxiliary corpus and deliberately rejected</a:t>
            </a:r>
            <a:endParaRPr lang="en-US" sz="1150" dirty="0"/>
          </a:p>
        </p:txBody>
      </p:sp>
      <p:sp>
        <p:nvSpPr>
          <p:cNvPr id="955" name="Text 30"/>
          <p:cNvSpPr/>
          <p:nvPr/>
        </p:nvSpPr>
        <p:spPr>
          <a:xfrm>
            <a:off x="8594128" y="4151376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and available, but off by default</a:t>
            </a:r>
            <a:endParaRPr lang="en-US" sz="1150" dirty="0"/>
          </a:p>
        </p:txBody>
      </p:sp>
      <p:sp>
        <p:nvSpPr>
          <p:cNvPr id="956" name="Text 36"/>
          <p:cNvSpPr/>
          <p:nvPr/>
        </p:nvSpPr>
        <p:spPr>
          <a:xfrm>
            <a:off x="8594128" y="4846320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demo only; the domain gap is reported, never trained away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RESEARCH GAP IDENTIFICATION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gaps closed, one left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 on the left, the design response on the right.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71907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83680" y="171907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RESPONDS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029968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029968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sentiment labels are insufficient for business interpretation.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45936" y="202996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03136" y="2029968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59168" y="2029968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RoBERTa across 28 emotion labels.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2871216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2871216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Whole-review classification averages away contrasting emotions.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45936" y="2871216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03136" y="2871216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59168" y="2871216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scoring around sentence boundaries and connectives.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3712464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3712464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without explanation hides what caused the decision.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45936" y="371246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03136" y="3712464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59168" y="3712464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token attributions returned with every prediction.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4553712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" y="4553712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emotions are hard for stakeholders to interpret.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45936" y="455371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03136" y="4553712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59168" y="4553712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business buckets layered over the raw label space.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" y="5394960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2960" y="5394960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Reddit comments; inference targets product reviews.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45936" y="539496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803136" y="5394960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059168" y="5394960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an open domain gap — acknowledged, not claimed solved.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INNOVATION &amp; NOVELTY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pipeline vs. this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engineering decisions that separate this build from a standard sentiment pipeline.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773936"/>
            <a:ext cx="3218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151376" y="177393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SENTIMENT ANALYSIS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38160" y="1773936"/>
            <a:ext cx="37124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808" y="2103120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space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931920" y="2103120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51376" y="2103120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polarity classes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18704" y="2103120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17A398">
              <a:alpha val="10000"/>
            </a:srgbClr>
          </a:solidFill>
          <a:ln w="11430">
            <a:solidFill>
              <a:srgbClr val="17A3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2103120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multi-label emotions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" y="2889504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931920" y="2889504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51376" y="2889504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review scored once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18704" y="2889504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5A4FCF">
              <a:alpha val="10000"/>
            </a:srgbClr>
          </a:solidFill>
          <a:ln w="11430">
            <a:solidFill>
              <a:srgbClr val="5A4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2889504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scoring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" y="3675888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931920" y="3675888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3675888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Absent, or added post-hoc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18704" y="3675888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D9922E">
              <a:alpha val="10000"/>
            </a:srgbClr>
          </a:solidFill>
          <a:ln w="11430">
            <a:solidFill>
              <a:srgbClr val="D992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38160" y="3675888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built into the workflow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9808" y="4462272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931920" y="4462272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51376" y="4462272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 output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918704" y="4462272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E8604C">
              <a:alpha val="10000"/>
            </a:srgbClr>
          </a:solidFill>
          <a:ln w="11430">
            <a:solidFill>
              <a:srgbClr val="E860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4462272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actionable categories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9808" y="5248656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931920" y="5248656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51376" y="5248656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endpoint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18704" y="5248656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3D3D8F">
              <a:alpha val="10000"/>
            </a:srgbClr>
          </a:solidFill>
          <a:ln w="11430">
            <a:solidFill>
              <a:srgbClr val="3D3D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0" y="5248656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· XAI · caching · analytics · batch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66928" y="616305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positions the deliverable as a capstone decision-support system — not a production system.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CREATIVITY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is a workspace, not a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model's output is presented so a stakeholder can use it.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901952"/>
            <a:ext cx="310896" cy="31089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9019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42416" y="18105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42416" y="210312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is explored, not reduced to one polarity value.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761488"/>
            <a:ext cx="310896" cy="31089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761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42416" y="26700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token explanation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42416" y="296265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words show what pushed each emotion up.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621024"/>
            <a:ext cx="310896" cy="310896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36210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42416" y="352958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detection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42416" y="379806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and complaint are surfaced separately, side by side.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480560"/>
            <a:ext cx="310896" cy="310896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4805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42416" y="4389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Trend-level analytics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42416" y="468172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distributions, buckets and movement over time.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6928" y="5340096"/>
            <a:ext cx="310896" cy="31089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53400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42416" y="52486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bridge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42416" y="554126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output becomes something a business can act 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82512" y="1700784"/>
            <a:ext cx="5248656" cy="4334256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638544" y="18470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CONCEPT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351008" y="1847088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9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6492240" y="2103120"/>
          <a:ext cx="2834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6"/>
          <p:cNvSpPr/>
          <p:nvPr/>
        </p:nvSpPr>
        <p:spPr>
          <a:xfrm>
            <a:off x="9400032" y="24871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637776" y="243230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9400032" y="287121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637776" y="28163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9400032" y="325526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637776" y="320040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9400032" y="363931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37776" y="358444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6638544" y="451713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638544" y="4773168"/>
            <a:ext cx="4736592" cy="676656"/>
          </a:xfrm>
          <a:prstGeom prst="roundRect">
            <a:avLst>
              <a:gd name="adj" fmla="val 10811"/>
            </a:avLst>
          </a:prstGeom>
          <a:solidFill>
            <a:srgbClr val="F3F3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919472"/>
            <a:ext cx="45628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7314286" y="4919472"/>
            <a:ext cx="796442" cy="329184"/>
          </a:xfrm>
          <a:prstGeom prst="roundRect">
            <a:avLst>
              <a:gd name="adj" fmla="val 16667"/>
            </a:avLst>
          </a:prstGeom>
          <a:solidFill>
            <a:srgbClr val="E8604C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14286" y="4919472"/>
            <a:ext cx="79644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8183880" y="4919472"/>
            <a:ext cx="711403" cy="329184"/>
          </a:xfrm>
          <a:prstGeom prst="roundRect">
            <a:avLst>
              <a:gd name="adj" fmla="val 16667"/>
            </a:avLst>
          </a:prstGeom>
          <a:solidFill>
            <a:srgbClr val="E8604C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183880" y="4919472"/>
            <a:ext cx="71140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8968435" y="4919472"/>
            <a:ext cx="71140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9752990" y="4919472"/>
            <a:ext cx="45628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10282428" y="4919472"/>
            <a:ext cx="626364" cy="329184"/>
          </a:xfrm>
          <a:prstGeom prst="roundRect">
            <a:avLst>
              <a:gd name="adj" fmla="val 16667"/>
            </a:avLst>
          </a:prstGeom>
          <a:solidFill>
            <a:srgbClr val="D9922E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82428" y="4919472"/>
            <a:ext cx="6263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6656832" y="5522976"/>
            <a:ext cx="4700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tokens carry the strongest contribution to the predicted emotion.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FEASIBILITY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is specified end to end, and partly running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has a named technology; deployment is under way, not finished.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8536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26280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26280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26280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26280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10144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47888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47888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247888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47888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47888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247888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page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40599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938528" y="4059936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 or a local CUDA GPU — kept separate from application deployment.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190488" y="40599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562088" y="4059936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brings up PostgreSQL, Redis, backend, worker and frontend reproducibly.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4846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938528" y="484632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is live on Vercel and the API is live on Render — the model artifact is not hosted yet, so prediction routes still return 503.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190488" y="4846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562088" y="484632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are cached and inference runs off the FastAPI event loop.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66928" y="5705856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2960" y="5705856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constraints:   </a:t>
            </a:r>
            <a:r>
              <a:rPr lang="en-US" sz="120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 ·  no database migrations  ·  128-token context  ·  product-review domain gap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PROJECT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phases from literature to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delivery; each phase produces an artefact the next one depends on.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719072"/>
            <a:ext cx="329184" cy="329184"/>
          </a:xfrm>
          <a:prstGeom prst="ellipse">
            <a:avLst/>
          </a:prstGeom>
          <a:solidFill>
            <a:srgbClr val="3D3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6384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&amp; Literature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problem, objectives, datasets and evaluation criteria.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75888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11296" y="1719072"/>
            <a:ext cx="329184" cy="329184"/>
          </a:xfrm>
          <a:prstGeom prst="ellipse">
            <a:avLst/>
          </a:prstGeom>
          <a:solidFill>
            <a:srgbClr val="3D3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84448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84448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84448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GoEmotions and auxiliary sets; define label maps and coverage masks.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73952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719072"/>
            <a:ext cx="329184" cy="329184"/>
          </a:xfrm>
          <a:prstGeom prst="ellipse">
            <a:avLst/>
          </a:prstGeom>
          <a:solidFill>
            <a:srgbClr val="5A4F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63056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82512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82512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82512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 using multi-label BCE loss.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272016" y="1883664"/>
            <a:ext cx="0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07424" y="1719072"/>
            <a:ext cx="329184" cy="329184"/>
          </a:xfrm>
          <a:prstGeom prst="ellipse">
            <a:avLst/>
          </a:prstGeom>
          <a:solidFill>
            <a:srgbClr val="5A4F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1120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180576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180576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80576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per-label thresholds and generate test metrics.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77824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232" y="3858768"/>
            <a:ext cx="329184" cy="32918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6928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86384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86384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86384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SHAP token attributions with Redis caching.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675888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511296" y="3858768"/>
            <a:ext cx="329184" cy="32918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364992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3584448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06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584448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584448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prediction, analysis, explanation, batch and analytics APIs.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473952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09360" y="3858768"/>
            <a:ext cx="329184" cy="329184"/>
          </a:xfrm>
          <a:prstGeom prst="ellipse">
            <a:avLst/>
          </a:prstGeom>
          <a:solidFill>
            <a:srgbClr val="D992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63056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382512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D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07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382512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82512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for Analyze, Dashboard, Batch and Model.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9272016" y="4023360"/>
            <a:ext cx="0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107424" y="3858768"/>
            <a:ext cx="329184" cy="329184"/>
          </a:xfrm>
          <a:prstGeom prst="ellipse">
            <a:avLst/>
          </a:prstGeom>
          <a:solidFill>
            <a:srgbClr val="E860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61120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9180576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08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180576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9180576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42-test suite, Dockerise services, deploy backend and frontend.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EXPECTED 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exist when the project is finished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deliverables targeted for submission — criteria to meet, not results already claimed.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11680"/>
            <a:ext cx="402336" cy="40233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classifier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classified into 28 emotions with per-label tuned thresholds.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011680"/>
            <a:ext cx="402336" cy="402336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26280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explanations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 returned with every prediction, cached for reuse.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10144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47888" y="2011680"/>
            <a:ext cx="402336" cy="402336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7888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47888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handling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47888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carrying both praise and complaint resolved clause by clause.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4672" y="4114800"/>
            <a:ext cx="402336" cy="40233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4672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output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04672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buckets and trend analytics for non-technical stakeholders.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88536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26280" y="4114800"/>
            <a:ext cx="402336" cy="402336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26280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26280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and dashboard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526280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plus a web UI for individual and batch analysis.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10144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47888" y="4114800"/>
            <a:ext cx="402336" cy="402336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47888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47888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documented build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247888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a committed config, with limitations stated openly.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HIGH-LEVEL SYSTEM FLOW</a:t>
            </a:r>
            <a:endParaRPr lang="en-US" sz="1100" b="1" kern="0" spc="24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1660" y="1019810"/>
            <a:ext cx="10154285" cy="42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review to an explained, aggregated result</a:t>
            </a:r>
            <a:endParaRPr lang="en-US" sz="3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9BA0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A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15184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07792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8E9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connectives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6048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48656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A79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28-label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58384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9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scoring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96912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89520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5FD3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99248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37776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30384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F091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40112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40112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9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aggregation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8216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6928" y="4114292"/>
            <a:ext cx="1565453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14292"/>
            <a:ext cx="1565453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scores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96973" y="4114292"/>
            <a:ext cx="1744675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6973" y="4114292"/>
            <a:ext cx="1744675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labels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6240" y="4114292"/>
            <a:ext cx="1834286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114292"/>
            <a:ext cx="183428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flag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05118" y="4114292"/>
            <a:ext cx="1296619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5118" y="4114292"/>
            <a:ext cx="129661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66330" y="4114292"/>
            <a:ext cx="1117397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6330" y="4114292"/>
            <a:ext cx="1117397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48823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</a:t>
            </a:r>
            <a:endParaRPr lang="en-US" sz="10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6928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6384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reviews, results and analytics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88536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7992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07992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cache and task queue backing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10144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0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workers for batch CSV processing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PROJECT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the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members · Applied Machine Learning for Text Analysis (24ALT3101).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249424"/>
            <a:ext cx="402336" cy="40233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2311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017520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 Krishna Soma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2420090069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8134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5878" y="2249424"/>
            <a:ext cx="402336" cy="402336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95878" y="22311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95878" y="3017520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Sriram V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595878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2420090106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49340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87084" y="2249424"/>
            <a:ext cx="402336" cy="402336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7084" y="22311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87084" y="3017520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G Sree Susheel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87084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2420090124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40546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78290" y="2249424"/>
            <a:ext cx="402336" cy="40233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78290" y="22311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78290" y="3017520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Chowdary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178290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2420090126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01" name="Shape 37"/>
          <p:cNvSpPr/>
          <p:nvPr/>
        </p:nvSpPr>
        <p:spPr>
          <a:xfrm>
            <a:off x="566928" y="51572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902" name="Text 38"/>
          <p:cNvSpPr/>
          <p:nvPr/>
        </p:nvSpPr>
        <p:spPr>
          <a:xfrm>
            <a:off x="804672" y="51572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28-label model, FastAPI backend, React dashboard, 42-test suite and documented limitations.</a:t>
            </a:r>
            <a:endParaRPr lang="en-US" sz="1150" dirty="0"/>
          </a:p>
        </p:txBody>
      </p:sp>
      <p:sp>
        <p:nvSpPr>
          <p:cNvPr id="903" name="Shape 39"/>
          <p:cNvSpPr/>
          <p:nvPr/>
        </p:nvSpPr>
        <p:spPr>
          <a:xfrm>
            <a:off x="7973568" y="51572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904" name="Text 40"/>
          <p:cNvSpPr/>
          <p:nvPr/>
        </p:nvSpPr>
        <p:spPr>
          <a:xfrm>
            <a:off x="8174736" y="51572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Applied Machine Learning for Text Analysis  ·  24ALT3101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66928" y="2340864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emotion, explained at the token level,</a:t>
            </a:r>
            <a:endParaRPr lang="en-US" sz="3400" dirty="0">
              <a:solidFill>
                <a:schemeClr val="tx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aggregated into decisions.</a:t>
            </a:r>
            <a:endParaRPr lang="en-US" sz="34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4078224"/>
            <a:ext cx="111556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17A3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078224"/>
            <a:ext cx="11155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labels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65376" y="4078224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5A4FCF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1"/>
            </p:custDataLst>
          </p:nvPr>
        </p:nvSpPr>
        <p:spPr>
          <a:xfrm>
            <a:off x="1865376" y="40782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9584" y="4078224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D9922E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3529584" y="4078224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SHAP-explained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85232" y="4078224"/>
            <a:ext cx="193852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E8604C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5285232" y="4078224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buckets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endParaRPr lang="en-US" sz="1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566928" y="543153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  ·  24ALT3101</a:t>
            </a:r>
            <a:endParaRPr lang="en-US" sz="115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76970" y="4173220"/>
            <a:ext cx="3086100" cy="22948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2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3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11262</Words>
  <Application>WPS Presentation</Application>
  <PresentationFormat>On-screen Show (16:9)</PresentationFormat>
  <Paragraphs>692</Paragraphs>
  <Slides>14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Futura Medium</vt:lpstr>
      <vt:lpstr>Calibri</vt:lpstr>
      <vt:lpstr>Arial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Transformer-Based Emotion-Aware Customer Feedback Analysis</dc:title>
  <dc:creator>Pujith</dc:creator>
  <dc:subject>PptxGenJS Presentation</dc:subject>
  <cp:lastModifiedBy>Pujith Soma</cp:lastModifiedBy>
  <cp:revision>7</cp:revision>
  <dcterms:created xsi:type="dcterms:W3CDTF">2026-08-14T08:01:18Z</dcterms:created>
  <dcterms:modified xsi:type="dcterms:W3CDTF">2026-08-14T08:01:18Z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6E6F47F6E35EB765C3EA7B6AE467CE3A_42</vt:lpwstr>
  </property>
  <property fmtid="{D5CDD505-2E9C-101B-9397-08002B2CF9AE}" pid="3" name="KSOProductBuildVer">
    <vt:lpwstr>1033-12.1.26050.26050</vt:lpwstr>
  </property>
</Properties>
</file>